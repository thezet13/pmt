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21"/>
  </p:notesMasterIdLst>
  <p:sldIdLst>
    <p:sldId id="793" r:id="rId5"/>
    <p:sldId id="1413" r:id="rId6"/>
    <p:sldId id="1421" r:id="rId7"/>
    <p:sldId id="1419" r:id="rId8"/>
    <p:sldId id="1420" r:id="rId9"/>
    <p:sldId id="1412" r:id="rId10"/>
    <p:sldId id="1418" r:id="rId11"/>
    <p:sldId id="1417" r:id="rId12"/>
    <p:sldId id="1416" r:id="rId13"/>
    <p:sldId id="1415" r:id="rId14"/>
    <p:sldId id="1414" r:id="rId15"/>
    <p:sldId id="1411" r:id="rId16"/>
    <p:sldId id="1410" r:id="rId17"/>
    <p:sldId id="1408" r:id="rId18"/>
    <p:sldId id="1409" r:id="rId19"/>
    <p:sldId id="1311" r:id="rId20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6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268822443442E-2"/>
          <c:y val="9.3514173092747691E-2"/>
          <c:w val="0.91114394145966415"/>
          <c:h val="0.8841774175287672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268822443442E-2"/>
          <c:y val="9.3514173092747691E-2"/>
          <c:w val="0.91114394145966415"/>
          <c:h val="0.8841774175287672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268822443442E-2"/>
          <c:y val="9.3514173092747691E-2"/>
          <c:w val="0.91114394145966415"/>
          <c:h val="0.8841774175287672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038918815175838E-2"/>
          <c:y val="6.2464013514523783E-2"/>
          <c:w val="0.93563088825319463"/>
          <c:h val="0.9079395204075342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13"/>
        <c:holeSize val="4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F4C5A-2669-4383-CA56-F9390080B2C8}"/>
              </a:ext>
            </a:extLst>
          </p:cNvPr>
          <p:cNvSpPr txBox="1"/>
          <p:nvPr/>
        </p:nvSpPr>
        <p:spPr>
          <a:xfrm>
            <a:off x="6352994" y="3429000"/>
            <a:ext cx="4481783" cy="861774"/>
          </a:xfrm>
          <a:prstGeom prst="rect">
            <a:avLst/>
          </a:prstGeom>
          <a:solidFill>
            <a:srgbClr val="FCFCFC"/>
          </a:solidFill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kumimoji="0" lang="az-Latn-AZ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2026-cı ilin mart ayı üzrə aylıq icmal hesabat</a:t>
            </a:r>
          </a:p>
        </p:txBody>
      </p:sp>
    </p:spTree>
    <p:extLst>
      <p:ext uri="{BB962C8B-B14F-4D97-AF65-F5344CB8AC3E}">
        <p14:creationId xmlns:p14="http://schemas.microsoft.com/office/powerpoint/2010/main" val="89748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6612B-F5F3-DD1A-858F-FEF257C5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985F50-AA5C-1297-2A1E-B8F6A11ECA77}"/>
              </a:ext>
            </a:extLst>
          </p:cNvPr>
          <p:cNvSpPr txBox="1"/>
          <p:nvPr/>
        </p:nvSpPr>
        <p:spPr>
          <a:xfrm>
            <a:off x="1131660" y="542090"/>
            <a:ext cx="98769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Hesabat dövrü üzrə icmal xülasə</a:t>
            </a:r>
            <a:r>
              <a:rPr lang="az-Latn-AZ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az-Latn-AZ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Əsas göstərici və nəticələr </a:t>
            </a:r>
            <a:endParaRPr kumimoji="0" lang="az-Latn-AZ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57A6E-FCFE-BCBD-378C-AEA1911FB362}"/>
              </a:ext>
            </a:extLst>
          </p:cNvPr>
          <p:cNvSpPr txBox="1"/>
          <p:nvPr/>
        </p:nvSpPr>
        <p:spPr>
          <a:xfrm>
            <a:off x="1093212" y="2816039"/>
            <a:ext cx="3094740" cy="6079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“European Social Services Award” (ESSA)</a:t>
            </a:r>
            <a:r>
              <a:rPr kumimoji="0" lang="az-Latn-AZ" sz="13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mükafatının qalibi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kumimoji="0" lang="az-Latn-AZ" sz="13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92D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European Social Network (ESN), 2024.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280F55-B637-B8A7-EA4F-0C6868833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" t="438" r="6892" b="-438"/>
          <a:stretch/>
        </p:blipFill>
        <p:spPr>
          <a:xfrm>
            <a:off x="1072869" y="1158589"/>
            <a:ext cx="3115084" cy="1603661"/>
          </a:xfrm>
          <a:prstGeom prst="rect">
            <a:avLst/>
          </a:prstGeom>
        </p:spPr>
      </p:pic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17178F73-24F0-DDD3-84D5-2F92437F87D8}"/>
              </a:ext>
            </a:extLst>
          </p:cNvPr>
          <p:cNvGrpSpPr/>
          <p:nvPr/>
        </p:nvGrpSpPr>
        <p:grpSpPr>
          <a:xfrm>
            <a:off x="1072869" y="2153820"/>
            <a:ext cx="6411596" cy="1495425"/>
            <a:chOff x="1072869" y="2153820"/>
            <a:chExt cx="6411596" cy="1495425"/>
          </a:xfrm>
        </p:grpSpPr>
        <p:grpSp>
          <p:nvGrpSpPr>
            <p:cNvPr id="88" name="Группа 87">
              <a:extLst>
                <a:ext uri="{FF2B5EF4-FFF2-40B4-BE49-F238E27FC236}">
                  <a16:creationId xmlns:a16="http://schemas.microsoft.com/office/drawing/2014/main" id="{7BC61321-0DBD-BB63-5411-A735D943EE46}"/>
                </a:ext>
              </a:extLst>
            </p:cNvPr>
            <p:cNvGrpSpPr/>
            <p:nvPr/>
          </p:nvGrpSpPr>
          <p:grpSpPr>
            <a:xfrm>
              <a:off x="1072869" y="2153820"/>
              <a:ext cx="3644193" cy="1495425"/>
              <a:chOff x="1072869" y="2143125"/>
              <a:chExt cx="3644193" cy="1495425"/>
            </a:xfrm>
          </p:grpSpPr>
          <p:cxnSp>
            <p:nvCxnSpPr>
              <p:cNvPr id="80" name="Прямая соединительная линия 79">
                <a:extLst>
                  <a:ext uri="{FF2B5EF4-FFF2-40B4-BE49-F238E27FC236}">
                    <a16:creationId xmlns:a16="http://schemas.microsoft.com/office/drawing/2014/main" id="{0E18A037-A9C5-6D2C-3FC2-F1AB910043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7725" y="2143125"/>
                <a:ext cx="0" cy="1440000"/>
              </a:xfrm>
              <a:prstGeom prst="line">
                <a:avLst/>
              </a:prstGeom>
              <a:ln w="50800">
                <a:solidFill>
                  <a:srgbClr val="02437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55217403-0E56-1C71-F176-E0727BF1CF53}"/>
                  </a:ext>
                </a:extLst>
              </p:cNvPr>
              <p:cNvGrpSpPr/>
              <p:nvPr/>
            </p:nvGrpSpPr>
            <p:grpSpPr>
              <a:xfrm>
                <a:off x="1072869" y="3524250"/>
                <a:ext cx="3644193" cy="114300"/>
                <a:chOff x="600910" y="3790950"/>
                <a:chExt cx="3644193" cy="114300"/>
              </a:xfrm>
            </p:grpSpPr>
            <p:cxnSp>
              <p:nvCxnSpPr>
                <p:cNvPr id="4" name="Прямая соединительная линия 3">
                  <a:extLst>
                    <a:ext uri="{FF2B5EF4-FFF2-40B4-BE49-F238E27FC236}">
                      <a16:creationId xmlns:a16="http://schemas.microsoft.com/office/drawing/2014/main" id="{937128D8-9658-E83B-2078-ACB75C5154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910" y="3848100"/>
                  <a:ext cx="3587043" cy="0"/>
                </a:xfrm>
                <a:prstGeom prst="line">
                  <a:avLst/>
                </a:prstGeom>
                <a:ln w="25400">
                  <a:solidFill>
                    <a:srgbClr val="02437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Блок-схема: узел 13">
                  <a:extLst>
                    <a:ext uri="{FF2B5EF4-FFF2-40B4-BE49-F238E27FC236}">
                      <a16:creationId xmlns:a16="http://schemas.microsoft.com/office/drawing/2014/main" id="{E071EC74-38B7-4149-4475-B2309EC99358}"/>
                    </a:ext>
                  </a:extLst>
                </p:cNvPr>
                <p:cNvSpPr/>
                <p:nvPr/>
              </p:nvSpPr>
              <p:spPr>
                <a:xfrm>
                  <a:off x="4130803" y="3790950"/>
                  <a:ext cx="114300" cy="114300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solidFill>
                    <a:srgbClr val="02437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az-Latn-A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3" name="Блок-схема: узел 92">
              <a:extLst>
                <a:ext uri="{FF2B5EF4-FFF2-40B4-BE49-F238E27FC236}">
                  <a16:creationId xmlns:a16="http://schemas.microsoft.com/office/drawing/2014/main" id="{5E0D7D2C-C7A0-53D3-0931-6C37CEEC5547}"/>
                </a:ext>
              </a:extLst>
            </p:cNvPr>
            <p:cNvSpPr/>
            <p:nvPr/>
          </p:nvSpPr>
          <p:spPr>
            <a:xfrm rot="10800000">
              <a:off x="7370165" y="3534945"/>
              <a:ext cx="114300" cy="1143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rgbClr val="0243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BBAAB0-7013-4347-868E-DA910788197B}"/>
              </a:ext>
            </a:extLst>
          </p:cNvPr>
          <p:cNvSpPr/>
          <p:nvPr/>
        </p:nvSpPr>
        <p:spPr>
          <a:xfrm>
            <a:off x="1093212" y="4741560"/>
            <a:ext cx="3602207" cy="914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C42966-9756-41E7-8A7F-02A3F51288EA}"/>
              </a:ext>
            </a:extLst>
          </p:cNvPr>
          <p:cNvSpPr txBox="1"/>
          <p:nvPr/>
        </p:nvSpPr>
        <p:spPr>
          <a:xfrm>
            <a:off x="1295907" y="4822465"/>
            <a:ext cx="3060194" cy="752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Ümumilikdə </a:t>
            </a: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 İSO sertifikatı </a:t>
            </a: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əldə edilmişdir. Onların 4-ü DOST Agentliyi və 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isə DOST Rəqəmsal İnnovasiyalar Mərkəzi tərəfindən tətbiq edilir.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D040F06E-B251-6352-5D50-37060F0015C4}"/>
              </a:ext>
            </a:extLst>
          </p:cNvPr>
          <p:cNvSpPr/>
          <p:nvPr/>
        </p:nvSpPr>
        <p:spPr>
          <a:xfrm>
            <a:off x="1093212" y="3852880"/>
            <a:ext cx="3602207" cy="685044"/>
          </a:xfrm>
          <a:prstGeom prst="rect">
            <a:avLst/>
          </a:prstGeom>
          <a:solidFill>
            <a:srgbClr val="D0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DFEBD-031C-EF12-3B8E-6FE438B2AF33}"/>
              </a:ext>
            </a:extLst>
          </p:cNvPr>
          <p:cNvSpPr txBox="1"/>
          <p:nvPr/>
        </p:nvSpPr>
        <p:spPr>
          <a:xfrm>
            <a:off x="1293786" y="3923817"/>
            <a:ext cx="306231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“DOST” mərkəzlərində xidmət göstərilən vətəndaşların sayı </a:t>
            </a: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D80F7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milyonu 2024-cü ildə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artıq keçmişdir. </a:t>
            </a:r>
          </a:p>
        </p:txBody>
      </p:sp>
      <p:grpSp>
        <p:nvGrpSpPr>
          <p:cNvPr id="10" name="Группа 13">
            <a:extLst>
              <a:ext uri="{FF2B5EF4-FFF2-40B4-BE49-F238E27FC236}">
                <a16:creationId xmlns:a16="http://schemas.microsoft.com/office/drawing/2014/main" id="{0D683DDF-08CD-B4FE-60BF-806BB065C5A9}"/>
              </a:ext>
            </a:extLst>
          </p:cNvPr>
          <p:cNvGrpSpPr/>
          <p:nvPr/>
        </p:nvGrpSpPr>
        <p:grpSpPr>
          <a:xfrm>
            <a:off x="5445226" y="1668501"/>
            <a:ext cx="5023130" cy="390494"/>
            <a:chOff x="1018010" y="1470408"/>
            <a:chExt cx="5023130" cy="3904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C6DBE8-06F8-1AFF-7CD1-E1797416AE18}"/>
                </a:ext>
              </a:extLst>
            </p:cNvPr>
            <p:cNvSpPr txBox="1"/>
            <p:nvPr/>
          </p:nvSpPr>
          <p:spPr>
            <a:xfrm>
              <a:off x="1520279" y="1470408"/>
              <a:ext cx="4520861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</p:txBody>
        </p:sp>
        <p:pic>
          <p:nvPicPr>
            <p:cNvPr id="17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4B4E6AB9-A45E-EA71-F4D3-E41BB961C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grpSp>
        <p:nvGrpSpPr>
          <p:cNvPr id="18" name="Группа 13">
            <a:extLst>
              <a:ext uri="{FF2B5EF4-FFF2-40B4-BE49-F238E27FC236}">
                <a16:creationId xmlns:a16="http://schemas.microsoft.com/office/drawing/2014/main" id="{9593C7F8-4FB8-F096-2CD5-FA22B129CB96}"/>
              </a:ext>
            </a:extLst>
          </p:cNvPr>
          <p:cNvGrpSpPr/>
          <p:nvPr/>
        </p:nvGrpSpPr>
        <p:grpSpPr>
          <a:xfrm>
            <a:off x="5537689" y="2700358"/>
            <a:ext cx="4685527" cy="390494"/>
            <a:chOff x="1018010" y="1470408"/>
            <a:chExt cx="4685527" cy="3904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CA1384-3A37-9C51-2AA6-E02FC0975099}"/>
                </a:ext>
              </a:extLst>
            </p:cNvPr>
            <p:cNvSpPr txBox="1"/>
            <p:nvPr/>
          </p:nvSpPr>
          <p:spPr>
            <a:xfrm>
              <a:off x="1520279" y="1470408"/>
              <a:ext cx="418325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22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0EA1B7FE-1F03-BE09-C9E8-D2FEFCBA7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9700AFF-28D4-5EEA-1F44-6C1E26C04EFB}"/>
              </a:ext>
            </a:extLst>
          </p:cNvPr>
          <p:cNvSpPr txBox="1"/>
          <p:nvPr/>
        </p:nvSpPr>
        <p:spPr>
          <a:xfrm>
            <a:off x="5386290" y="1235721"/>
            <a:ext cx="6094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Qanunvericilikdə və xidmətlərdə baş vermiş dəyişikliklər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16F24-E779-0169-E212-DCFF77E93CAB}"/>
              </a:ext>
            </a:extLst>
          </p:cNvPr>
          <p:cNvSpPr txBox="1"/>
          <p:nvPr/>
        </p:nvSpPr>
        <p:spPr>
          <a:xfrm>
            <a:off x="5386290" y="2220252"/>
            <a:ext cx="5193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İnstitusional dəyişikliklər və yeniliklər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Группа 13">
            <a:extLst>
              <a:ext uri="{FF2B5EF4-FFF2-40B4-BE49-F238E27FC236}">
                <a16:creationId xmlns:a16="http://schemas.microsoft.com/office/drawing/2014/main" id="{9037A83C-F440-543D-73A0-75815C434EE5}"/>
              </a:ext>
            </a:extLst>
          </p:cNvPr>
          <p:cNvGrpSpPr/>
          <p:nvPr/>
        </p:nvGrpSpPr>
        <p:grpSpPr>
          <a:xfrm>
            <a:off x="5567870" y="3930454"/>
            <a:ext cx="4685527" cy="390494"/>
            <a:chOff x="1018010" y="1470408"/>
            <a:chExt cx="4685527" cy="39049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96299D-7443-EE15-72CF-A0C3E37AD4F4}"/>
                </a:ext>
              </a:extLst>
            </p:cNvPr>
            <p:cNvSpPr txBox="1"/>
            <p:nvPr/>
          </p:nvSpPr>
          <p:spPr>
            <a:xfrm>
              <a:off x="1520279" y="1470408"/>
              <a:ext cx="418325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27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074CC75C-6A50-B4FF-3D35-DED98E61A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7E31D0A-9A1F-E29B-EF56-46C9A40818F0}"/>
              </a:ext>
            </a:extLst>
          </p:cNvPr>
          <p:cNvSpPr txBox="1"/>
          <p:nvPr/>
        </p:nvSpPr>
        <p:spPr>
          <a:xfrm>
            <a:off x="5416471" y="3450348"/>
            <a:ext cx="5193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İnstitusional dəyişikliklər və yeniliklər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7" name="Группа 13">
            <a:extLst>
              <a:ext uri="{FF2B5EF4-FFF2-40B4-BE49-F238E27FC236}">
                <a16:creationId xmlns:a16="http://schemas.microsoft.com/office/drawing/2014/main" id="{DE83E9A0-A85B-DB3F-D7C2-80E89EAB9EF2}"/>
              </a:ext>
            </a:extLst>
          </p:cNvPr>
          <p:cNvGrpSpPr/>
          <p:nvPr/>
        </p:nvGrpSpPr>
        <p:grpSpPr>
          <a:xfrm>
            <a:off x="5571950" y="5130864"/>
            <a:ext cx="4681447" cy="390494"/>
            <a:chOff x="1018010" y="1470408"/>
            <a:chExt cx="4681447" cy="39049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F36A2F-6D24-C300-2712-0DA2ED551C13}"/>
                </a:ext>
              </a:extLst>
            </p:cNvPr>
            <p:cNvSpPr txBox="1"/>
            <p:nvPr/>
          </p:nvSpPr>
          <p:spPr>
            <a:xfrm>
              <a:off x="1520279" y="1470408"/>
              <a:ext cx="417917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39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6F6FC8F8-8D62-9F50-BD35-E5B21CAFC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A0CCF14-98D3-D0F8-4364-9453B7C217A7}"/>
              </a:ext>
            </a:extLst>
          </p:cNvPr>
          <p:cNvSpPr txBox="1"/>
          <p:nvPr/>
        </p:nvSpPr>
        <p:spPr>
          <a:xfrm>
            <a:off x="5416471" y="4723275"/>
            <a:ext cx="5193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İnzibati dəyişikliklər, yeniliklər və qərarlar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9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4F75-FB85-89E3-B865-D7F06844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5DBAD-0E71-D4B5-9ACE-35E0EB067F84}"/>
              </a:ext>
            </a:extLst>
          </p:cNvPr>
          <p:cNvSpPr txBox="1"/>
          <p:nvPr/>
        </p:nvSpPr>
        <p:spPr>
          <a:xfrm>
            <a:off x="1114558" y="552600"/>
            <a:ext cx="98769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Hesabat dövrü üzrə icmal xülasə</a:t>
            </a:r>
            <a:r>
              <a:rPr lang="az-Latn-AZ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az-Latn-AZ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əsas istiqamətlər  </a:t>
            </a:r>
            <a:endParaRPr kumimoji="0" lang="az-Latn-AZ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" name="Группа 13">
            <a:extLst>
              <a:ext uri="{FF2B5EF4-FFF2-40B4-BE49-F238E27FC236}">
                <a16:creationId xmlns:a16="http://schemas.microsoft.com/office/drawing/2014/main" id="{B7C80924-1D1D-0EC1-E1B7-511DC271FE44}"/>
              </a:ext>
            </a:extLst>
          </p:cNvPr>
          <p:cNvGrpSpPr/>
          <p:nvPr/>
        </p:nvGrpSpPr>
        <p:grpSpPr>
          <a:xfrm>
            <a:off x="1093501" y="1737314"/>
            <a:ext cx="5023130" cy="390494"/>
            <a:chOff x="1018010" y="1470408"/>
            <a:chExt cx="5023130" cy="3904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057479-3320-5F97-112E-052BD54820EE}"/>
                </a:ext>
              </a:extLst>
            </p:cNvPr>
            <p:cNvSpPr txBox="1"/>
            <p:nvPr/>
          </p:nvSpPr>
          <p:spPr>
            <a:xfrm>
              <a:off x="1520279" y="1470408"/>
              <a:ext cx="4520861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</p:txBody>
        </p:sp>
        <p:pic>
          <p:nvPicPr>
            <p:cNvPr id="9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C31A7395-D39F-86F3-C60A-69A0D981B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grpSp>
        <p:nvGrpSpPr>
          <p:cNvPr id="12" name="Группа 13">
            <a:extLst>
              <a:ext uri="{FF2B5EF4-FFF2-40B4-BE49-F238E27FC236}">
                <a16:creationId xmlns:a16="http://schemas.microsoft.com/office/drawing/2014/main" id="{73DA9648-255F-1ED3-60D4-F8AF16143F86}"/>
              </a:ext>
            </a:extLst>
          </p:cNvPr>
          <p:cNvGrpSpPr/>
          <p:nvPr/>
        </p:nvGrpSpPr>
        <p:grpSpPr>
          <a:xfrm>
            <a:off x="1165316" y="2875002"/>
            <a:ext cx="4685527" cy="390494"/>
            <a:chOff x="1018010" y="1470408"/>
            <a:chExt cx="4685527" cy="3904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3F5F09-3226-CB4E-1A11-8AA0227D7D46}"/>
                </a:ext>
              </a:extLst>
            </p:cNvPr>
            <p:cNvSpPr txBox="1"/>
            <p:nvPr/>
          </p:nvSpPr>
          <p:spPr>
            <a:xfrm>
              <a:off x="1520279" y="1470408"/>
              <a:ext cx="418325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29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D225FE0B-BE21-6AAC-7253-4C0178CFD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6C8335D-FC21-ED82-0777-20A7029F02A7}"/>
              </a:ext>
            </a:extLst>
          </p:cNvPr>
          <p:cNvSpPr txBox="1"/>
          <p:nvPr/>
        </p:nvSpPr>
        <p:spPr>
          <a:xfrm>
            <a:off x="1034565" y="1304534"/>
            <a:ext cx="6094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Beynəlxalq əlaqələr 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02C3FA-8EC5-F94C-DE43-C2D7982FD85C}"/>
              </a:ext>
            </a:extLst>
          </p:cNvPr>
          <p:cNvSpPr txBox="1"/>
          <p:nvPr/>
        </p:nvSpPr>
        <p:spPr>
          <a:xfrm>
            <a:off x="1013917" y="2394896"/>
            <a:ext cx="5193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Proyekt və layihə fəaliyyəti 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3" name="Группа 13">
            <a:extLst>
              <a:ext uri="{FF2B5EF4-FFF2-40B4-BE49-F238E27FC236}">
                <a16:creationId xmlns:a16="http://schemas.microsoft.com/office/drawing/2014/main" id="{26C322E6-BDB3-B003-FE39-C3E290353F68}"/>
              </a:ext>
            </a:extLst>
          </p:cNvPr>
          <p:cNvGrpSpPr/>
          <p:nvPr/>
        </p:nvGrpSpPr>
        <p:grpSpPr>
          <a:xfrm>
            <a:off x="1114558" y="5190502"/>
            <a:ext cx="4681447" cy="553998"/>
            <a:chOff x="1018010" y="1470408"/>
            <a:chExt cx="4681447" cy="55399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C07A943-50FE-9FD9-AF1C-8A6EC475D276}"/>
                </a:ext>
              </a:extLst>
            </p:cNvPr>
            <p:cNvSpPr txBox="1"/>
            <p:nvPr/>
          </p:nvSpPr>
          <p:spPr>
            <a:xfrm>
              <a:off x="1520279" y="1470408"/>
              <a:ext cx="4179178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“DOST”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mərkəzlərində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göstərilən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xidmətlərin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hüquqi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təkmilləşdir</a:t>
              </a:r>
              <a:r>
                <a: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ilməsi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məqsidlə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təkliflər</a:t>
              </a:r>
              <a:r>
                <a:rPr kumimoji="0" lang="az-Latn-AZ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hazırlanaraq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aidiyyəti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təqdim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edil</a:t>
              </a:r>
              <a:r>
                <a: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məsi</a:t>
              </a:r>
              <a:r>
                <a:rPr lang="az-Latn-AZ" sz="12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;</a:t>
              </a:r>
              <a:endPara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5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070DAB44-C8B5-10AC-1C40-A49A25F28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F92B248-BA27-5F37-77FC-3A0E601FDE9D}"/>
              </a:ext>
            </a:extLst>
          </p:cNvPr>
          <p:cNvSpPr txBox="1"/>
          <p:nvPr/>
        </p:nvSpPr>
        <p:spPr>
          <a:xfrm>
            <a:off x="959079" y="4782913"/>
            <a:ext cx="5193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Agentliyinin tabeliyində olan qrumları ilə bağlı </a:t>
            </a:r>
          </a:p>
        </p:txBody>
      </p:sp>
      <p:grpSp>
        <p:nvGrpSpPr>
          <p:cNvPr id="54" name="Группа 13">
            <a:extLst>
              <a:ext uri="{FF2B5EF4-FFF2-40B4-BE49-F238E27FC236}">
                <a16:creationId xmlns:a16="http://schemas.microsoft.com/office/drawing/2014/main" id="{6061E3F3-70A0-452B-1532-1952C1115518}"/>
              </a:ext>
            </a:extLst>
          </p:cNvPr>
          <p:cNvGrpSpPr/>
          <p:nvPr/>
        </p:nvGrpSpPr>
        <p:grpSpPr>
          <a:xfrm>
            <a:off x="1029129" y="4034788"/>
            <a:ext cx="5023130" cy="390494"/>
            <a:chOff x="1018010" y="1470408"/>
            <a:chExt cx="5023130" cy="390494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70DEBA0-64F6-B0E6-2C27-52276801AD6D}"/>
                </a:ext>
              </a:extLst>
            </p:cNvPr>
            <p:cNvSpPr txBox="1"/>
            <p:nvPr/>
          </p:nvSpPr>
          <p:spPr>
            <a:xfrm>
              <a:off x="1520279" y="1470408"/>
              <a:ext cx="4520861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</p:txBody>
        </p:sp>
        <p:pic>
          <p:nvPicPr>
            <p:cNvPr id="56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508CFC3C-2AF6-8C81-5F3C-3E7D9EDF3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251EA39-F701-FB24-F619-611283D90D42}"/>
              </a:ext>
            </a:extLst>
          </p:cNvPr>
          <p:cNvSpPr txBox="1"/>
          <p:nvPr/>
        </p:nvSpPr>
        <p:spPr>
          <a:xfrm>
            <a:off x="959079" y="3619199"/>
            <a:ext cx="6094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İşçi qrupların fəaliyyətinə dair </a:t>
            </a:r>
          </a:p>
        </p:txBody>
      </p:sp>
      <p:grpSp>
        <p:nvGrpSpPr>
          <p:cNvPr id="58" name="Группа 2">
            <a:extLst>
              <a:ext uri="{FF2B5EF4-FFF2-40B4-BE49-F238E27FC236}">
                <a16:creationId xmlns:a16="http://schemas.microsoft.com/office/drawing/2014/main" id="{C17336D8-550A-C3E3-1EDB-3AC4A52B1EB3}"/>
              </a:ext>
            </a:extLst>
          </p:cNvPr>
          <p:cNvGrpSpPr/>
          <p:nvPr/>
        </p:nvGrpSpPr>
        <p:grpSpPr>
          <a:xfrm>
            <a:off x="6732412" y="2875002"/>
            <a:ext cx="5459588" cy="731545"/>
            <a:chOff x="1157521" y="1716206"/>
            <a:chExt cx="5459588" cy="731545"/>
          </a:xfrm>
        </p:grpSpPr>
        <p:grpSp>
          <p:nvGrpSpPr>
            <p:cNvPr id="61" name="Группа 3">
              <a:extLst>
                <a:ext uri="{FF2B5EF4-FFF2-40B4-BE49-F238E27FC236}">
                  <a16:creationId xmlns:a16="http://schemas.microsoft.com/office/drawing/2014/main" id="{3E11D414-C9CB-0A1C-F42B-6CE2F9FEE896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5E21EB8-4173-3B47-97B0-755A8A4FC9F6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Çətinliklər:</a:t>
                </a:r>
              </a:p>
            </p:txBody>
          </p:sp>
          <p:pic>
            <p:nvPicPr>
              <p:cNvPr id="65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C2C39157-63CA-623C-9EAF-2C6E1DBD7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624DEC-4CE8-0EA5-2A5C-8476B9A69DF5}"/>
                </a:ext>
              </a:extLst>
            </p:cNvPr>
            <p:cNvSpPr txBox="1"/>
            <p:nvPr/>
          </p:nvSpPr>
          <p:spPr>
            <a:xfrm>
              <a:off x="1704496" y="2016864"/>
              <a:ext cx="3773048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</p:grpSp>
      <p:grpSp>
        <p:nvGrpSpPr>
          <p:cNvPr id="66" name="Группа 23">
            <a:extLst>
              <a:ext uri="{FF2B5EF4-FFF2-40B4-BE49-F238E27FC236}">
                <a16:creationId xmlns:a16="http://schemas.microsoft.com/office/drawing/2014/main" id="{B3B90305-FCB3-ADC3-CC87-44A702797C26}"/>
              </a:ext>
            </a:extLst>
          </p:cNvPr>
          <p:cNvGrpSpPr/>
          <p:nvPr/>
        </p:nvGrpSpPr>
        <p:grpSpPr>
          <a:xfrm>
            <a:off x="6810648" y="3838046"/>
            <a:ext cx="5459588" cy="731545"/>
            <a:chOff x="1157521" y="1716206"/>
            <a:chExt cx="5459588" cy="731545"/>
          </a:xfrm>
        </p:grpSpPr>
        <p:grpSp>
          <p:nvGrpSpPr>
            <p:cNvPr id="78" name="Группа 24">
              <a:extLst>
                <a:ext uri="{FF2B5EF4-FFF2-40B4-BE49-F238E27FC236}">
                  <a16:creationId xmlns:a16="http://schemas.microsoft.com/office/drawing/2014/main" id="{5852B227-500A-EB24-64E6-1EDE2001EF09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30406F2-757F-EC5A-D1A7-B0BD88DBB991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Təkliflər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  <p:pic>
            <p:nvPicPr>
              <p:cNvPr id="82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D1AFA741-F331-4638-74A9-371796D5CF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72AF12-F9A1-9744-E87B-6DA9DF7F2903}"/>
                </a:ext>
              </a:extLst>
            </p:cNvPr>
            <p:cNvSpPr txBox="1"/>
            <p:nvPr/>
          </p:nvSpPr>
          <p:spPr>
            <a:xfrm>
              <a:off x="1704496" y="2016864"/>
              <a:ext cx="3678158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</p:grpSp>
      <p:grpSp>
        <p:nvGrpSpPr>
          <p:cNvPr id="85" name="Группа 13">
            <a:extLst>
              <a:ext uri="{FF2B5EF4-FFF2-40B4-BE49-F238E27FC236}">
                <a16:creationId xmlns:a16="http://schemas.microsoft.com/office/drawing/2014/main" id="{AF84EC50-96A2-6661-EFB1-06263C7C21BE}"/>
              </a:ext>
            </a:extLst>
          </p:cNvPr>
          <p:cNvGrpSpPr/>
          <p:nvPr/>
        </p:nvGrpSpPr>
        <p:grpSpPr>
          <a:xfrm>
            <a:off x="6308379" y="1718915"/>
            <a:ext cx="4681447" cy="553998"/>
            <a:chOff x="1018010" y="1470408"/>
            <a:chExt cx="4681447" cy="55399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C762758-6A71-4F27-30A4-A3E41E9DDF1C}"/>
                </a:ext>
              </a:extLst>
            </p:cNvPr>
            <p:cNvSpPr txBox="1"/>
            <p:nvPr/>
          </p:nvSpPr>
          <p:spPr>
            <a:xfrm>
              <a:off x="1520279" y="1470408"/>
              <a:ext cx="4179178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“DOST”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mərkəzlərində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göstərilən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xidmətlərin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hüquqi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təkmilləşdir</a:t>
              </a:r>
              <a:r>
                <a: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ilməsi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məqsidlə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təkliflər</a:t>
              </a:r>
              <a:r>
                <a:rPr kumimoji="0" lang="az-Latn-AZ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hazırlanaraq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aidiyyəti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təqdim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edil</a:t>
              </a:r>
              <a:r>
                <a: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məsi</a:t>
              </a:r>
              <a:r>
                <a:rPr lang="az-Latn-AZ" sz="12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;</a:t>
              </a:r>
              <a:endPara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87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B5F1443E-F566-C380-5CD5-5057B61AB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D22FBF43-6FA1-6D5A-34AD-BCA12445E695}"/>
              </a:ext>
            </a:extLst>
          </p:cNvPr>
          <p:cNvSpPr txBox="1"/>
          <p:nvPr/>
        </p:nvSpPr>
        <p:spPr>
          <a:xfrm>
            <a:off x="6152900" y="1311326"/>
            <a:ext cx="551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İctimaiyyətlə əlaqələr və kommunikasiya istiqaməti üzrə </a:t>
            </a:r>
          </a:p>
        </p:txBody>
      </p:sp>
    </p:spTree>
    <p:extLst>
      <p:ext uri="{BB962C8B-B14F-4D97-AF65-F5344CB8AC3E}">
        <p14:creationId xmlns:p14="http://schemas.microsoft.com/office/powerpoint/2010/main" val="259422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E341-3761-F275-8717-E6A20746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ABD6D6F-165C-23AD-8721-2D4A4CC31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326" y="0"/>
            <a:ext cx="5400000" cy="5719793"/>
          </a:xfrm>
          <a:prstGeom prst="rect">
            <a:avLst/>
          </a:prstGeom>
        </p:spPr>
      </p:pic>
      <p:grpSp>
        <p:nvGrpSpPr>
          <p:cNvPr id="37" name="Группа 11">
            <a:extLst>
              <a:ext uri="{FF2B5EF4-FFF2-40B4-BE49-F238E27FC236}">
                <a16:creationId xmlns:a16="http://schemas.microsoft.com/office/drawing/2014/main" id="{E92F21EB-1CFA-D666-D44B-13DA978E2FCF}"/>
              </a:ext>
            </a:extLst>
          </p:cNvPr>
          <p:cNvGrpSpPr/>
          <p:nvPr/>
        </p:nvGrpSpPr>
        <p:grpSpPr>
          <a:xfrm>
            <a:off x="1072869" y="1483204"/>
            <a:ext cx="3771830" cy="330607"/>
            <a:chOff x="1263824" y="3422393"/>
            <a:chExt cx="3398582" cy="33060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CD6462-8045-7A6C-6C8F-54F34EEAB79A}"/>
                </a:ext>
              </a:extLst>
            </p:cNvPr>
            <p:cNvSpPr txBox="1"/>
            <p:nvPr/>
          </p:nvSpPr>
          <p:spPr>
            <a:xfrm>
              <a:off x="1746089" y="3422393"/>
              <a:ext cx="2916317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{4_text_1}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39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21F52EAA-0BBF-4000-0C2F-AE6D33394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40" name="Группа 14">
            <a:extLst>
              <a:ext uri="{FF2B5EF4-FFF2-40B4-BE49-F238E27FC236}">
                <a16:creationId xmlns:a16="http://schemas.microsoft.com/office/drawing/2014/main" id="{4811EC5B-A44A-23B4-5A31-4043301D9E7B}"/>
              </a:ext>
            </a:extLst>
          </p:cNvPr>
          <p:cNvGrpSpPr/>
          <p:nvPr/>
        </p:nvGrpSpPr>
        <p:grpSpPr>
          <a:xfrm>
            <a:off x="1072869" y="2179428"/>
            <a:ext cx="3032966" cy="330607"/>
            <a:chOff x="1263824" y="3422393"/>
            <a:chExt cx="2732833" cy="33060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9E91C9-E54E-B9CA-5273-037F735361CF}"/>
                </a:ext>
              </a:extLst>
            </p:cNvPr>
            <p:cNvSpPr txBox="1"/>
            <p:nvPr/>
          </p:nvSpPr>
          <p:spPr>
            <a:xfrm>
              <a:off x="1746090" y="3422393"/>
              <a:ext cx="2250567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Aft>
                  <a:spcPts val="400"/>
                </a:spcAft>
                <a:defRPr/>
              </a:pPr>
              <a:r>
                <a:rPr lang="en-US" sz="13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{4_text_3}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2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277A99EB-C83C-9F55-FBAF-8C454F310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43" name="Группа 25">
            <a:extLst>
              <a:ext uri="{FF2B5EF4-FFF2-40B4-BE49-F238E27FC236}">
                <a16:creationId xmlns:a16="http://schemas.microsoft.com/office/drawing/2014/main" id="{117D91EA-F0EB-2057-4CB6-1515D3A44A31}"/>
              </a:ext>
            </a:extLst>
          </p:cNvPr>
          <p:cNvGrpSpPr/>
          <p:nvPr/>
        </p:nvGrpSpPr>
        <p:grpSpPr>
          <a:xfrm>
            <a:off x="5037002" y="1483204"/>
            <a:ext cx="4017351" cy="330607"/>
            <a:chOff x="1263824" y="3422393"/>
            <a:chExt cx="3619807" cy="33060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586AC18-A574-981E-754C-5ED3C198D04A}"/>
                </a:ext>
              </a:extLst>
            </p:cNvPr>
            <p:cNvSpPr txBox="1"/>
            <p:nvPr/>
          </p:nvSpPr>
          <p:spPr>
            <a:xfrm>
              <a:off x="1746089" y="3422393"/>
              <a:ext cx="3137542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Aft>
                  <a:spcPts val="400"/>
                </a:spcAft>
                <a:defRPr/>
              </a:pPr>
              <a:r>
                <a:rPr lang="en-US" sz="13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{4_text_2}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5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DAF52A66-4213-7CF1-9877-D95BB9C4F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46" name="Группа 28">
            <a:extLst>
              <a:ext uri="{FF2B5EF4-FFF2-40B4-BE49-F238E27FC236}">
                <a16:creationId xmlns:a16="http://schemas.microsoft.com/office/drawing/2014/main" id="{25E6602E-4D90-E8AB-C9FC-8B82598ABF7C}"/>
              </a:ext>
            </a:extLst>
          </p:cNvPr>
          <p:cNvGrpSpPr/>
          <p:nvPr/>
        </p:nvGrpSpPr>
        <p:grpSpPr>
          <a:xfrm>
            <a:off x="5037002" y="2179428"/>
            <a:ext cx="4508779" cy="330607"/>
            <a:chOff x="1263824" y="3422393"/>
            <a:chExt cx="4062605" cy="33060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AC5C237-7538-5FCF-0A44-5D9F5EEFFCD3}"/>
                </a:ext>
              </a:extLst>
            </p:cNvPr>
            <p:cNvSpPr txBox="1"/>
            <p:nvPr/>
          </p:nvSpPr>
          <p:spPr>
            <a:xfrm>
              <a:off x="1746088" y="3422393"/>
              <a:ext cx="3580341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Aft>
                  <a:spcPts val="400"/>
                </a:spcAft>
                <a:defRPr/>
              </a:pPr>
              <a:r>
                <a:rPr lang="en-US" sz="13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{4_text_4}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48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B1BED4E9-7C14-C883-433A-002AC8878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C07C884-9732-C811-E332-51CAE539DFF6}"/>
              </a:ext>
            </a:extLst>
          </p:cNvPr>
          <p:cNvSpPr txBox="1"/>
          <p:nvPr/>
        </p:nvSpPr>
        <p:spPr>
          <a:xfrm>
            <a:off x="1133923" y="2951762"/>
            <a:ext cx="8156103" cy="321711"/>
          </a:xfrm>
          <a:prstGeom prst="rect">
            <a:avLst/>
          </a:prstGeom>
          <a:solidFill>
            <a:srgbClr val="CCECFF">
              <a:alpha val="50000"/>
            </a:srgbClr>
          </a:solidFill>
        </p:spPr>
        <p:txBody>
          <a:bodyPr wrap="square" lIns="72000" tIns="36000" rIns="36000" bIns="5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Xərclər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smetası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onun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icrası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bağlı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detallı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məlumatlar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cədvəli</a:t>
            </a:r>
            <a:endParaRPr kumimoji="0" lang="az-Latn-AZ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0" name="Таблица 32">
            <a:extLst>
              <a:ext uri="{FF2B5EF4-FFF2-40B4-BE49-F238E27FC236}">
                <a16:creationId xmlns:a16="http://schemas.microsoft.com/office/drawing/2014/main" id="{DE05B679-B0E5-E929-4280-2C29CCBC6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316920"/>
              </p:ext>
            </p:extLst>
          </p:nvPr>
        </p:nvGraphicFramePr>
        <p:xfrm>
          <a:off x="1133924" y="3274401"/>
          <a:ext cx="9048187" cy="1882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2205">
                  <a:extLst>
                    <a:ext uri="{9D8B030D-6E8A-4147-A177-3AD203B41FA5}">
                      <a16:colId xmlns:a16="http://schemas.microsoft.com/office/drawing/2014/main" val="4270324409"/>
                    </a:ext>
                  </a:extLst>
                </a:gridCol>
                <a:gridCol w="1860992">
                  <a:extLst>
                    <a:ext uri="{9D8B030D-6E8A-4147-A177-3AD203B41FA5}">
                      <a16:colId xmlns:a16="http://schemas.microsoft.com/office/drawing/2014/main" val="4266853713"/>
                    </a:ext>
                  </a:extLst>
                </a:gridCol>
                <a:gridCol w="975102">
                  <a:extLst>
                    <a:ext uri="{9D8B030D-6E8A-4147-A177-3AD203B41FA5}">
                      <a16:colId xmlns:a16="http://schemas.microsoft.com/office/drawing/2014/main" val="291449928"/>
                    </a:ext>
                  </a:extLst>
                </a:gridCol>
                <a:gridCol w="1767373">
                  <a:extLst>
                    <a:ext uri="{9D8B030D-6E8A-4147-A177-3AD203B41FA5}">
                      <a16:colId xmlns:a16="http://schemas.microsoft.com/office/drawing/2014/main" val="2593098355"/>
                    </a:ext>
                  </a:extLst>
                </a:gridCol>
                <a:gridCol w="992515">
                  <a:extLst>
                    <a:ext uri="{9D8B030D-6E8A-4147-A177-3AD203B41FA5}">
                      <a16:colId xmlns:a16="http://schemas.microsoft.com/office/drawing/2014/main" val="2033209725"/>
                    </a:ext>
                  </a:extLst>
                </a:gridCol>
              </a:tblGrid>
              <a:tr h="355029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Kateqoriya 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Smeta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z-Latn-A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Faktiki icra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z-Latn-A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763577"/>
                  </a:ext>
                </a:extLst>
              </a:tr>
              <a:tr h="292100">
                <a:tc vMerge="1">
                  <a:txBody>
                    <a:bodyPr/>
                    <a:lstStyle/>
                    <a:p>
                      <a:endParaRPr lang="az-Latn-A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Məbləğ 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Məbləğ 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647658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{4_cat1}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{4_smeta1}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{4_s_p1}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{4_fact1}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{4_f_p1}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212091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{4_cat2}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{4_smeta2}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{4_fact2}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13012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{4_cat3}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{4_smeta3}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{4_fact3}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830541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{4_cat4}</a:t>
                      </a:r>
                      <a:endParaRPr lang="az-Latn-AZ" sz="12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{4_smeta4}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{4_fact4}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737342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Yekun: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{4_s_t}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{4_s_t</a:t>
                      </a:r>
                      <a:r>
                        <a:rPr lang="en-US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</a:t>
                      </a:r>
                      <a:r>
                        <a:rPr lang="en-US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_t}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</a:t>
                      </a:r>
                      <a:r>
                        <a:rPr lang="en-US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_</a:t>
                      </a:r>
                      <a:r>
                        <a:rPr lang="en-US" sz="1350" b="1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tp</a:t>
                      </a: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76204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50289369-26B5-3602-AFF9-0477B80722FD}"/>
              </a:ext>
            </a:extLst>
          </p:cNvPr>
          <p:cNvSpPr txBox="1"/>
          <p:nvPr/>
        </p:nvSpPr>
        <p:spPr>
          <a:xfrm>
            <a:off x="1133923" y="5665028"/>
            <a:ext cx="5746858" cy="281231"/>
          </a:xfrm>
          <a:prstGeom prst="rect">
            <a:avLst/>
          </a:prstGeom>
          <a:solidFill>
            <a:srgbClr val="FBFD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* </a:t>
            </a: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Qeyd: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C11EA6-1E80-86F8-46F7-6A54862586C4}"/>
              </a:ext>
            </a:extLst>
          </p:cNvPr>
          <p:cNvSpPr txBox="1"/>
          <p:nvPr/>
        </p:nvSpPr>
        <p:spPr>
          <a:xfrm>
            <a:off x="1171324" y="530284"/>
            <a:ext cx="78001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{4_title}</a:t>
            </a:r>
            <a:endParaRPr kumimoji="0" lang="az-Latn-AZ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20C773-9740-E57C-4C99-0EFBAD1FC1E0}"/>
              </a:ext>
            </a:extLst>
          </p:cNvPr>
          <p:cNvSpPr txBox="1"/>
          <p:nvPr/>
        </p:nvSpPr>
        <p:spPr>
          <a:xfrm>
            <a:off x="1171324" y="899616"/>
            <a:ext cx="76468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{4_subtitle}</a:t>
            </a:r>
            <a:endParaRPr kumimoji="0" lang="az-Latn-AZ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FEEF9C-ABF1-071D-7504-432F1A96420F}"/>
              </a:ext>
            </a:extLst>
          </p:cNvPr>
          <p:cNvSpPr txBox="1"/>
          <p:nvPr/>
        </p:nvSpPr>
        <p:spPr>
          <a:xfrm>
            <a:off x="1709017" y="5665028"/>
            <a:ext cx="8473093" cy="281231"/>
          </a:xfrm>
          <a:prstGeom prst="rect">
            <a:avLst/>
          </a:prstGeom>
          <a:solidFill>
            <a:srgbClr val="FBFD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{4_qeyd}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3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5FE5-1EFF-C5FD-E7DE-25C9150A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28BEA24F-3227-22D8-AA6A-A21E4589DD97}"/>
              </a:ext>
            </a:extLst>
          </p:cNvPr>
          <p:cNvGrpSpPr/>
          <p:nvPr/>
        </p:nvGrpSpPr>
        <p:grpSpPr>
          <a:xfrm>
            <a:off x="1072870" y="1662449"/>
            <a:ext cx="4565929" cy="400110"/>
            <a:chOff x="1263824" y="3422393"/>
            <a:chExt cx="4114099" cy="40011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05A14B-93AD-22E7-F7DE-0681CDEB8CC6}"/>
                </a:ext>
              </a:extLst>
            </p:cNvPr>
            <p:cNvSpPr txBox="1"/>
            <p:nvPr/>
          </p:nvSpPr>
          <p:spPr>
            <a:xfrm>
              <a:off x="1746089" y="3422393"/>
              <a:ext cx="363183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3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54420954-F041-FFA5-9220-FD0BAE8E4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DD8DB001-E39E-7737-96E7-9CDC40D44644}"/>
              </a:ext>
            </a:extLst>
          </p:cNvPr>
          <p:cNvGrpSpPr/>
          <p:nvPr/>
        </p:nvGrpSpPr>
        <p:grpSpPr>
          <a:xfrm>
            <a:off x="1072870" y="2601381"/>
            <a:ext cx="4565929" cy="400110"/>
            <a:chOff x="1263824" y="3422393"/>
            <a:chExt cx="4114099" cy="40011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B1A1BA-06A1-9B82-3628-98401252C212}"/>
                </a:ext>
              </a:extLst>
            </p:cNvPr>
            <p:cNvSpPr txBox="1"/>
            <p:nvPr/>
          </p:nvSpPr>
          <p:spPr>
            <a:xfrm>
              <a:off x="1746089" y="3422393"/>
              <a:ext cx="363183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38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775824FF-2C76-CF10-B44D-8F35D3068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D0D4F262-31C7-58F1-2F0E-40D79E13844D}"/>
              </a:ext>
            </a:extLst>
          </p:cNvPr>
          <p:cNvGrpSpPr/>
          <p:nvPr/>
        </p:nvGrpSpPr>
        <p:grpSpPr>
          <a:xfrm>
            <a:off x="1072870" y="3740368"/>
            <a:ext cx="4565929" cy="400110"/>
            <a:chOff x="1263824" y="3422393"/>
            <a:chExt cx="4114099" cy="40011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29DBFB6-5EF5-5421-9E69-E2E312E6FEBB}"/>
                </a:ext>
              </a:extLst>
            </p:cNvPr>
            <p:cNvSpPr txBox="1"/>
            <p:nvPr/>
          </p:nvSpPr>
          <p:spPr>
            <a:xfrm>
              <a:off x="1746089" y="3422393"/>
              <a:ext cx="363183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4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24328BC3-2E4D-EF4F-AA94-4C12FA804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C09031C2-17B2-2C86-1A45-B3593E21C8B8}"/>
              </a:ext>
            </a:extLst>
          </p:cNvPr>
          <p:cNvGrpSpPr/>
          <p:nvPr/>
        </p:nvGrpSpPr>
        <p:grpSpPr>
          <a:xfrm>
            <a:off x="6263995" y="1592946"/>
            <a:ext cx="4765956" cy="400110"/>
            <a:chOff x="1263824" y="3422393"/>
            <a:chExt cx="4294332" cy="40011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E147B7-88FA-8D1C-6E98-E36CDC9ECE40}"/>
                </a:ext>
              </a:extLst>
            </p:cNvPr>
            <p:cNvSpPr txBox="1"/>
            <p:nvPr/>
          </p:nvSpPr>
          <p:spPr>
            <a:xfrm>
              <a:off x="1746089" y="3422393"/>
              <a:ext cx="3812067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</p:txBody>
        </p:sp>
        <p:pic>
          <p:nvPicPr>
            <p:cNvPr id="45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B2F5DA7A-617E-F494-1B7C-44CE7D0B0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CA61FAA-D04A-018C-FEC0-B14670D0928F}"/>
              </a:ext>
            </a:extLst>
          </p:cNvPr>
          <p:cNvGrpSpPr/>
          <p:nvPr/>
        </p:nvGrpSpPr>
        <p:grpSpPr>
          <a:xfrm>
            <a:off x="6263995" y="2531878"/>
            <a:ext cx="4565929" cy="400110"/>
            <a:chOff x="1263824" y="3422393"/>
            <a:chExt cx="4114099" cy="40011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988CB3-F0A8-7A33-9803-D0B10CD5786D}"/>
                </a:ext>
              </a:extLst>
            </p:cNvPr>
            <p:cNvSpPr txBox="1"/>
            <p:nvPr/>
          </p:nvSpPr>
          <p:spPr>
            <a:xfrm>
              <a:off x="1746089" y="3422393"/>
              <a:ext cx="363183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</p:txBody>
        </p:sp>
        <p:pic>
          <p:nvPicPr>
            <p:cNvPr id="48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BB6FAB92-5A01-4F86-E94A-AAE2A94C9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6E1972-2E54-8DBE-0A23-95C73E238720}"/>
              </a:ext>
            </a:extLst>
          </p:cNvPr>
          <p:cNvGrpSpPr/>
          <p:nvPr/>
        </p:nvGrpSpPr>
        <p:grpSpPr>
          <a:xfrm>
            <a:off x="6267450" y="3626483"/>
            <a:ext cx="4851680" cy="400110"/>
            <a:chOff x="1263824" y="3422393"/>
            <a:chExt cx="4371573" cy="40011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E7EC39-B7F5-0B8D-2DC4-52DDD887F9DB}"/>
                </a:ext>
              </a:extLst>
            </p:cNvPr>
            <p:cNvSpPr txBox="1"/>
            <p:nvPr/>
          </p:nvSpPr>
          <p:spPr>
            <a:xfrm>
              <a:off x="1746088" y="3422393"/>
              <a:ext cx="3889309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</p:txBody>
        </p:sp>
        <p:pic>
          <p:nvPicPr>
            <p:cNvPr id="5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30816BE1-EBC4-2B3D-3B73-B10A299B9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7C07D55-BE66-12A7-1B16-99FBE312FC18}"/>
              </a:ext>
            </a:extLst>
          </p:cNvPr>
          <p:cNvSpPr txBox="1"/>
          <p:nvPr/>
        </p:nvSpPr>
        <p:spPr>
          <a:xfrm>
            <a:off x="1174943" y="554240"/>
            <a:ext cx="105210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Maliyyə fəaliyyətinin icmalı: </a:t>
            </a:r>
            <a:r>
              <a:rPr kumimoji="0" lang="az-Latn-AZ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Maliyyə və mühasibatlıq tədbirləri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944273C-A721-C386-3EB4-0B18D2D576FD}"/>
              </a:ext>
            </a:extLst>
          </p:cNvPr>
          <p:cNvGrpSpPr/>
          <p:nvPr/>
        </p:nvGrpSpPr>
        <p:grpSpPr>
          <a:xfrm>
            <a:off x="1608100" y="4829778"/>
            <a:ext cx="5459588" cy="731545"/>
            <a:chOff x="1157521" y="1716206"/>
            <a:chExt cx="5459588" cy="731545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26F7B0B0-8B44-5CA8-CA96-43C17086549C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436F58-B567-661A-5D3D-48F374AF5654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Çətinliklər:</a:t>
                </a:r>
              </a:p>
            </p:txBody>
          </p:sp>
          <p:pic>
            <p:nvPicPr>
              <p:cNvPr id="7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26EBA1C8-EA92-3B35-C175-DA532639F6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923BA7-0384-1197-81E8-33764AA5ADB8}"/>
                </a:ext>
              </a:extLst>
            </p:cNvPr>
            <p:cNvSpPr txBox="1"/>
            <p:nvPr/>
          </p:nvSpPr>
          <p:spPr>
            <a:xfrm>
              <a:off x="1704496" y="2016864"/>
              <a:ext cx="3773048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</p:grpSp>
      <p:grpSp>
        <p:nvGrpSpPr>
          <p:cNvPr id="8" name="Группа 23">
            <a:extLst>
              <a:ext uri="{FF2B5EF4-FFF2-40B4-BE49-F238E27FC236}">
                <a16:creationId xmlns:a16="http://schemas.microsoft.com/office/drawing/2014/main" id="{BF8C2356-EFD1-B133-93BB-2256FD5929D2}"/>
              </a:ext>
            </a:extLst>
          </p:cNvPr>
          <p:cNvGrpSpPr/>
          <p:nvPr/>
        </p:nvGrpSpPr>
        <p:grpSpPr>
          <a:xfrm>
            <a:off x="6231110" y="4783021"/>
            <a:ext cx="5459588" cy="731545"/>
            <a:chOff x="1157521" y="1716206"/>
            <a:chExt cx="5459588" cy="731545"/>
          </a:xfrm>
        </p:grpSpPr>
        <p:grpSp>
          <p:nvGrpSpPr>
            <p:cNvPr id="9" name="Группа 24">
              <a:extLst>
                <a:ext uri="{FF2B5EF4-FFF2-40B4-BE49-F238E27FC236}">
                  <a16:creationId xmlns:a16="http://schemas.microsoft.com/office/drawing/2014/main" id="{67BA0A8A-7BBD-F649-F0F9-47287449BC54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7E9D03-C243-2981-A0F4-6B1C375C4522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Təkliflər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  <p:pic>
            <p:nvPicPr>
              <p:cNvPr id="12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8769BF37-3A8F-32E9-88F1-4E1246811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C4145B-5ED0-0D51-5CE9-E720EBEA2B89}"/>
                </a:ext>
              </a:extLst>
            </p:cNvPr>
            <p:cNvSpPr txBox="1"/>
            <p:nvPr/>
          </p:nvSpPr>
          <p:spPr>
            <a:xfrm>
              <a:off x="1704496" y="2016864"/>
              <a:ext cx="3678158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883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37FA-6DA2-11CB-BEF7-8F92B9B2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B8BC2C-27DE-9ED5-93C0-1838209E7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708784"/>
              </p:ext>
            </p:extLst>
          </p:nvPr>
        </p:nvGraphicFramePr>
        <p:xfrm>
          <a:off x="1072870" y="1199511"/>
          <a:ext cx="10159408" cy="331749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48286">
                  <a:extLst>
                    <a:ext uri="{9D8B030D-6E8A-4147-A177-3AD203B41FA5}">
                      <a16:colId xmlns:a16="http://schemas.microsoft.com/office/drawing/2014/main" val="357018933"/>
                    </a:ext>
                  </a:extLst>
                </a:gridCol>
                <a:gridCol w="3441069">
                  <a:extLst>
                    <a:ext uri="{9D8B030D-6E8A-4147-A177-3AD203B41FA5}">
                      <a16:colId xmlns:a16="http://schemas.microsoft.com/office/drawing/2014/main" val="1253042714"/>
                    </a:ext>
                  </a:extLst>
                </a:gridCol>
                <a:gridCol w="2702029">
                  <a:extLst>
                    <a:ext uri="{9D8B030D-6E8A-4147-A177-3AD203B41FA5}">
                      <a16:colId xmlns:a16="http://schemas.microsoft.com/office/drawing/2014/main" val="252574832"/>
                    </a:ext>
                  </a:extLst>
                </a:gridCol>
                <a:gridCol w="3468024">
                  <a:extLst>
                    <a:ext uri="{9D8B030D-6E8A-4147-A177-3AD203B41FA5}">
                      <a16:colId xmlns:a16="http://schemas.microsoft.com/office/drawing/2014/main" val="4062470601"/>
                    </a:ext>
                  </a:extLst>
                </a:gridCol>
              </a:tblGrid>
              <a:tr h="468459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Cari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vəziyyət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Çətinliklər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İnkişaf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istiqamətləri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400" b="0" u="none" strike="noStrike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Təkliflər</a:t>
                      </a:r>
                      <a:r>
                        <a:rPr lang="en-US" sz="1400" b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805314"/>
                  </a:ext>
                </a:extLst>
              </a:tr>
              <a:tr h="1142577"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Hazırda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Nazirlikdə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istiqamətlər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üzrə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(mal,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iş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xidmət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qrupları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formalaşdırılıb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həmin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qruplar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DOST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Agentliyi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daxil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olmaqla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bütün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qurumların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işini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həyata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keçirir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işinin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qaydada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mərkəzləşdirilmiş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təşkili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qurumlar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üzrə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proseslərinin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izlənməsində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hesabatlılıqda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çətinliklər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yaradır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Hər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müəssisə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üçün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hesabatlıq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formasının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hazırlanması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təklif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olunur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Müəssisələrin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komissiyasının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üzvlərinin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proseslərindən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formallağının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sənəd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gəlir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məlumatsız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şəkildə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qol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çəkilir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aradan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az-Latn-AZ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qaldırılması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təklif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olunur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738627"/>
                  </a:ext>
                </a:extLst>
              </a:tr>
              <a:tr h="786496"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Hazırda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planında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dəyişiklik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ƏƏSM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naziri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ilə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razılaşdırılmalıdır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şəkildə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razılaşdırma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mexanizmi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prosesi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ləngidə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bilir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Müəssisələr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Nazirliyin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Aparatının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müvafiq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şöbəsi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ilə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razılaşdırmaqla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dəyişikliyin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edilməsi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təklif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edilir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068378"/>
                  </a:ext>
                </a:extLst>
              </a:tr>
              <a:tr h="786496"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Hazırda DOST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Agentliyinin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Satınalmalar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şöbəsi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tam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heyət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ilə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funksional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olaraq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Nazirliyin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İqtisadiyyat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şöbəsinin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tabeliyində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fəaliyyət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göstərir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DOST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Agentliyinin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daxilində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proseslərinin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koordinasiyası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üçün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məsul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əməkdaş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mövcud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deyil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bütün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prosesi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ləngidir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Satınalma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icrasının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iş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həcmlərinin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sürətli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effektiv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qanunun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tələblərinə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uyğun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formada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təqdim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edilməsi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məqsədilə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Agentliyin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vəzifəli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əməkdaşının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Agentlikdə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plana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nəzarət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etməsi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təklif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olunur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5564" marR="5564" marT="5564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435080"/>
                  </a:ext>
                </a:extLst>
              </a:tr>
            </a:tbl>
          </a:graphicData>
        </a:graphic>
      </p:graphicFrame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7938A7A-13E1-A0A9-4228-717D101F6247}"/>
              </a:ext>
            </a:extLst>
          </p:cNvPr>
          <p:cNvGrpSpPr/>
          <p:nvPr/>
        </p:nvGrpSpPr>
        <p:grpSpPr>
          <a:xfrm>
            <a:off x="1072870" y="4880000"/>
            <a:ext cx="8345067" cy="508407"/>
            <a:chOff x="1157521" y="1716206"/>
            <a:chExt cx="8345067" cy="508407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0E4A8E35-EBFF-F5D3-FE0F-3D7E7208F01C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FC9ADD-045C-4F27-D359-676700EC9E8B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Müqavilələr (</a:t>
                </a:r>
                <a:r>
                  <a:rPr kumimoji="0" lang="en-US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satınalmalar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kumimoji="0" lang="en-US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istiqaməti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üzrə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  <p:pic>
            <p:nvPicPr>
              <p:cNvPr id="12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7C1119C1-2667-2394-866F-11598C3F5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F9CFFA-CAF4-FC9A-8BF5-08A860A4D106}"/>
                </a:ext>
              </a:extLst>
            </p:cNvPr>
            <p:cNvSpPr txBox="1"/>
            <p:nvPr/>
          </p:nvSpPr>
          <p:spPr>
            <a:xfrm>
              <a:off x="1704496" y="2016864"/>
              <a:ext cx="7798092" cy="20774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1F64A4A-C6F1-68BE-DC44-97EB2CA7BFC9}"/>
              </a:ext>
            </a:extLst>
          </p:cNvPr>
          <p:cNvSpPr txBox="1"/>
          <p:nvPr/>
        </p:nvSpPr>
        <p:spPr>
          <a:xfrm>
            <a:off x="1141881" y="561738"/>
            <a:ext cx="106529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Satınalma və təminat fəaliyyətinin icmalı: </a:t>
            </a:r>
            <a:r>
              <a: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satınalma istiqaməti </a:t>
            </a:r>
          </a:p>
        </p:txBody>
      </p:sp>
    </p:spTree>
    <p:extLst>
      <p:ext uri="{BB962C8B-B14F-4D97-AF65-F5344CB8AC3E}">
        <p14:creationId xmlns:p14="http://schemas.microsoft.com/office/powerpoint/2010/main" val="207151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4163F-9177-A271-E70C-ABCD850B7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BAA521FD-4606-94AA-3337-BB305FB5E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-13445"/>
            <a:ext cx="5400000" cy="5071725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78CDBC9-18A4-2BA4-6B0B-40FE995903DF}"/>
              </a:ext>
            </a:extLst>
          </p:cNvPr>
          <p:cNvGrpSpPr/>
          <p:nvPr/>
        </p:nvGrpSpPr>
        <p:grpSpPr>
          <a:xfrm>
            <a:off x="1072870" y="3579212"/>
            <a:ext cx="9595130" cy="716156"/>
            <a:chOff x="1157521" y="1716206"/>
            <a:chExt cx="9595130" cy="716156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6C96850D-BC4D-1BEB-EA14-F5D365645156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E145E3-8ABE-C80F-FF7A-99270C2F8C9F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Çətinliklər:</a:t>
                </a:r>
              </a:p>
            </p:txBody>
          </p:sp>
          <p:pic>
            <p:nvPicPr>
              <p:cNvPr id="7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3CADCF84-363A-AACA-D7FA-E85DC9A9F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9ED871-1B9C-51B9-59EF-AAB567D1A9BD}"/>
                </a:ext>
              </a:extLst>
            </p:cNvPr>
            <p:cNvSpPr txBox="1"/>
            <p:nvPr/>
          </p:nvSpPr>
          <p:spPr>
            <a:xfrm>
              <a:off x="1704495" y="2016864"/>
              <a:ext cx="9048156" cy="4154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B9D11C1-6D95-0327-48A8-FAF8A6030BE9}"/>
              </a:ext>
            </a:extLst>
          </p:cNvPr>
          <p:cNvGrpSpPr/>
          <p:nvPr/>
        </p:nvGrpSpPr>
        <p:grpSpPr>
          <a:xfrm>
            <a:off x="1072870" y="4367767"/>
            <a:ext cx="9186013" cy="716156"/>
            <a:chOff x="1157521" y="1716206"/>
            <a:chExt cx="9186013" cy="716156"/>
          </a:xfrm>
        </p:grpSpPr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3F66BAFA-351F-43CC-06E9-72E5862F4BC8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DE4923-D3B1-F190-47E7-018267D07FCE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Ehtiyaclar:</a:t>
                </a:r>
              </a:p>
            </p:txBody>
          </p:sp>
          <p:pic>
            <p:nvPicPr>
              <p:cNvPr id="23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39A5F336-5BAA-E299-2997-7F3F11D96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6BF00F-D53E-7898-E3FC-FB776118DAEC}"/>
                </a:ext>
              </a:extLst>
            </p:cNvPr>
            <p:cNvSpPr txBox="1"/>
            <p:nvPr/>
          </p:nvSpPr>
          <p:spPr>
            <a:xfrm>
              <a:off x="1704495" y="2016864"/>
              <a:ext cx="8639039" cy="4154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C42B0F5-5BC3-F8CD-A88D-A5D629AF300A}"/>
              </a:ext>
            </a:extLst>
          </p:cNvPr>
          <p:cNvGrpSpPr/>
          <p:nvPr/>
        </p:nvGrpSpPr>
        <p:grpSpPr>
          <a:xfrm>
            <a:off x="1072870" y="5182597"/>
            <a:ext cx="10503537" cy="508407"/>
            <a:chOff x="1157521" y="1716206"/>
            <a:chExt cx="10503537" cy="508407"/>
          </a:xfrm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B4CAA4AA-9C92-53A8-3550-0A7E674E0483}"/>
                </a:ext>
              </a:extLst>
            </p:cNvPr>
            <p:cNvGrpSpPr/>
            <p:nvPr/>
          </p:nvGrpSpPr>
          <p:grpSpPr>
            <a:xfrm>
              <a:off x="1157521" y="1716206"/>
              <a:ext cx="5459588" cy="333536"/>
              <a:chOff x="1263824" y="3401582"/>
              <a:chExt cx="4919324" cy="333536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129F128-2F60-4EA2-6D4F-9092B3DAEF99}"/>
                  </a:ext>
                </a:extLst>
              </p:cNvPr>
              <p:cNvSpPr txBox="1"/>
              <p:nvPr/>
            </p:nvSpPr>
            <p:spPr>
              <a:xfrm>
                <a:off x="1746088" y="3401582"/>
                <a:ext cx="4437060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Təkliflər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  <p:pic>
            <p:nvPicPr>
              <p:cNvPr id="28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00D5DB74-AFE2-2A2B-C87F-9075D82648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1E7A6D-400B-9ADE-FA83-804572BAE229}"/>
                </a:ext>
              </a:extLst>
            </p:cNvPr>
            <p:cNvSpPr txBox="1"/>
            <p:nvPr/>
          </p:nvSpPr>
          <p:spPr>
            <a:xfrm>
              <a:off x="1704496" y="2016864"/>
              <a:ext cx="9956562" cy="20774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3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4D239C4-7F6B-DCEF-5B64-647376296541}"/>
              </a:ext>
            </a:extLst>
          </p:cNvPr>
          <p:cNvSpPr txBox="1"/>
          <p:nvPr/>
        </p:nvSpPr>
        <p:spPr>
          <a:xfrm>
            <a:off x="1167760" y="536406"/>
            <a:ext cx="67081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Satınalma və təminat fəaliyyətinin icmalı: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təminatla bağlı əsas göstəricilər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84B3D9-4857-C375-3594-543D85880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776214"/>
              </p:ext>
            </p:extLst>
          </p:nvPr>
        </p:nvGraphicFramePr>
        <p:xfrm>
          <a:off x="1003569" y="1505777"/>
          <a:ext cx="8287080" cy="189261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47239">
                  <a:extLst>
                    <a:ext uri="{9D8B030D-6E8A-4147-A177-3AD203B41FA5}">
                      <a16:colId xmlns:a16="http://schemas.microsoft.com/office/drawing/2014/main" val="2380599521"/>
                    </a:ext>
                  </a:extLst>
                </a:gridCol>
                <a:gridCol w="1575634">
                  <a:extLst>
                    <a:ext uri="{9D8B030D-6E8A-4147-A177-3AD203B41FA5}">
                      <a16:colId xmlns:a16="http://schemas.microsoft.com/office/drawing/2014/main" val="2746339008"/>
                    </a:ext>
                  </a:extLst>
                </a:gridCol>
                <a:gridCol w="1913489">
                  <a:extLst>
                    <a:ext uri="{9D8B030D-6E8A-4147-A177-3AD203B41FA5}">
                      <a16:colId xmlns:a16="http://schemas.microsoft.com/office/drawing/2014/main" val="2861996460"/>
                    </a:ext>
                  </a:extLst>
                </a:gridCol>
                <a:gridCol w="4350718">
                  <a:extLst>
                    <a:ext uri="{9D8B030D-6E8A-4147-A177-3AD203B41FA5}">
                      <a16:colId xmlns:a16="http://schemas.microsoft.com/office/drawing/2014/main" val="835915173"/>
                    </a:ext>
                  </a:extLst>
                </a:gridCol>
              </a:tblGrid>
              <a:tr h="468459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 istiqamətlər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Çətinliklər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İnkişaf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istiqamətləri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400" b="0" u="none" strike="noStrike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Təkliflər</a:t>
                      </a:r>
                      <a:r>
                        <a:rPr lang="en-US" sz="1400" b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185544"/>
                  </a:ext>
                </a:extLst>
              </a:tr>
              <a:tr h="5416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Anbar </a:t>
                      </a:r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İdarəetməsi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Anbarda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hərəkətsiz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mal-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materialların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mövcudluğu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Rəqəmsal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anbar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idarəetmə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sistemləri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ilə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hesabatın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çıxarılması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hərəkətsiz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mal-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materialların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müvafiq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istiqamətlərdə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dəyərləndirilməsi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235558"/>
                  </a:ext>
                </a:extLst>
              </a:tr>
              <a:tr h="651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Səmərəli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Qənaətcil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İstifadə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Materialların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düzgün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istifadə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olunmaması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Mal-material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inventarların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istifadəsi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zamanı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az-Latn-AZ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övlət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əmlakının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qorunub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saxlanılması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səmərəli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istifadə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edilməsinin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təkmilləşdirilməsi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haqqında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Fərmanın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tələblərinə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əməl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edilməsi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768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52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3A33-CBC7-32E1-B06C-B69035E1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1ECCD-45F7-6FCF-9431-D04B5D7F10B2}"/>
              </a:ext>
            </a:extLst>
          </p:cNvPr>
          <p:cNvSpPr txBox="1"/>
          <p:nvPr/>
        </p:nvSpPr>
        <p:spPr>
          <a:xfrm>
            <a:off x="5242580" y="1120183"/>
            <a:ext cx="484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{8_meqfaiz}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86494-608E-224A-F100-7DDA013D449D}"/>
              </a:ext>
            </a:extLst>
          </p:cNvPr>
          <p:cNvSpPr txBox="1"/>
          <p:nvPr/>
        </p:nvSpPr>
        <p:spPr>
          <a:xfrm>
            <a:off x="1761750" y="3201936"/>
            <a:ext cx="22343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Onlardan:</a:t>
            </a:r>
          </a:p>
        </p:txBody>
      </p:sp>
      <p:grpSp>
        <p:nvGrpSpPr>
          <p:cNvPr id="6" name="Группа 34">
            <a:extLst>
              <a:ext uri="{FF2B5EF4-FFF2-40B4-BE49-F238E27FC236}">
                <a16:creationId xmlns:a16="http://schemas.microsoft.com/office/drawing/2014/main" id="{A353CBD2-9046-54EA-B939-9913DE2CBC71}"/>
              </a:ext>
            </a:extLst>
          </p:cNvPr>
          <p:cNvGrpSpPr/>
          <p:nvPr/>
        </p:nvGrpSpPr>
        <p:grpSpPr>
          <a:xfrm>
            <a:off x="999958" y="5023905"/>
            <a:ext cx="3375443" cy="432000"/>
            <a:chOff x="6847095" y="5724113"/>
            <a:chExt cx="3375443" cy="432000"/>
          </a:xfrm>
        </p:grpSpPr>
        <p:pic>
          <p:nvPicPr>
            <p:cNvPr id="7" name="Рисунок 29" descr="Изображение выглядит как круг, Графика, символ, логотип&#10;&#10;Автоматически созданное описание">
              <a:extLst>
                <a:ext uri="{FF2B5EF4-FFF2-40B4-BE49-F238E27FC236}">
                  <a16:creationId xmlns:a16="http://schemas.microsoft.com/office/drawing/2014/main" id="{74A2CE5A-5C64-288C-F04E-289E8D387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7095" y="5724113"/>
              <a:ext cx="432000" cy="432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21328F-C1FA-B71C-968A-E37AC88E2786}"/>
                </a:ext>
              </a:extLst>
            </p:cNvPr>
            <p:cNvSpPr txBox="1"/>
            <p:nvPr/>
          </p:nvSpPr>
          <p:spPr>
            <a:xfrm>
              <a:off x="7602697" y="5832391"/>
              <a:ext cx="261984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{8_icx}</a:t>
              </a:r>
              <a:endPara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" name="Группа 35">
            <a:extLst>
              <a:ext uri="{FF2B5EF4-FFF2-40B4-BE49-F238E27FC236}">
                <a16:creationId xmlns:a16="http://schemas.microsoft.com/office/drawing/2014/main" id="{864C23E4-102D-A4D7-A88D-12056943B0BF}"/>
              </a:ext>
            </a:extLst>
          </p:cNvPr>
          <p:cNvGrpSpPr/>
          <p:nvPr/>
        </p:nvGrpSpPr>
        <p:grpSpPr>
          <a:xfrm>
            <a:off x="999851" y="1889659"/>
            <a:ext cx="3497055" cy="2715745"/>
            <a:chOff x="6847095" y="1751986"/>
            <a:chExt cx="3497055" cy="2715745"/>
          </a:xfrm>
        </p:grpSpPr>
        <p:pic>
          <p:nvPicPr>
            <p:cNvPr id="10" name="Рисунок 29" descr="Изображение выглядит как круг, Графика, символ, логотип&#10;&#10;Автоматически созданное описание">
              <a:extLst>
                <a:ext uri="{FF2B5EF4-FFF2-40B4-BE49-F238E27FC236}">
                  <a16:creationId xmlns:a16="http://schemas.microsoft.com/office/drawing/2014/main" id="{BD5E71DD-A834-782B-2805-2A2D03FAB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7095" y="1751986"/>
              <a:ext cx="432000" cy="432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7F661-420B-A71A-B8D0-5E66A38A9501}"/>
                </a:ext>
              </a:extLst>
            </p:cNvPr>
            <p:cNvSpPr txBox="1"/>
            <p:nvPr/>
          </p:nvSpPr>
          <p:spPr>
            <a:xfrm>
              <a:off x="7608888" y="1751986"/>
              <a:ext cx="273526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Hesabat </a:t>
              </a:r>
              <a:r>
                <a:rPr kumimoji="0" lang="az-Latn-AZ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dövründə </a:t>
              </a:r>
              <a:br>
                <a:rPr kumimoji="0" lang="az-Latn-AZ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icrası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nəzərdə tutulan ümumilikdə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3E1AD8-5288-9060-57DD-DFF2868B84CA}"/>
                </a:ext>
              </a:extLst>
            </p:cNvPr>
            <p:cNvSpPr txBox="1"/>
            <p:nvPr/>
          </p:nvSpPr>
          <p:spPr>
            <a:xfrm>
              <a:off x="7608888" y="2610102"/>
              <a:ext cx="177895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müəyyən edilmişdir ki,</a:t>
              </a:r>
            </a:p>
          </p:txBody>
        </p:sp>
        <p:grpSp>
          <p:nvGrpSpPr>
            <p:cNvPr id="13" name="Группа 23">
              <a:extLst>
                <a:ext uri="{FF2B5EF4-FFF2-40B4-BE49-F238E27FC236}">
                  <a16:creationId xmlns:a16="http://schemas.microsoft.com/office/drawing/2014/main" id="{3B5AE36B-EAB8-B131-E51A-2FCD5A888180}"/>
                </a:ext>
              </a:extLst>
            </p:cNvPr>
            <p:cNvGrpSpPr/>
            <p:nvPr/>
          </p:nvGrpSpPr>
          <p:grpSpPr>
            <a:xfrm>
              <a:off x="7589688" y="2159407"/>
              <a:ext cx="1359759" cy="2308324"/>
              <a:chOff x="7589688" y="2159407"/>
              <a:chExt cx="1359759" cy="230832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D6A3A5-00C7-E7B0-0559-9970FBC4ECBF}"/>
                  </a:ext>
                </a:extLst>
              </p:cNvPr>
              <p:cNvSpPr txBox="1"/>
              <p:nvPr/>
            </p:nvSpPr>
            <p:spPr>
              <a:xfrm>
                <a:off x="8160374" y="2309810"/>
                <a:ext cx="78907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TƏDBİR</a:t>
                </a:r>
                <a:endPara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142C0B-5563-FA4E-64E2-F7FFD870F7BB}"/>
                  </a:ext>
                </a:extLst>
              </p:cNvPr>
              <p:cNvSpPr txBox="1"/>
              <p:nvPr/>
            </p:nvSpPr>
            <p:spPr>
              <a:xfrm>
                <a:off x="7589688" y="2159407"/>
                <a:ext cx="500903" cy="2308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3000" b="1" dirty="0">
                    <a:solidFill>
                      <a:srgbClr val="0070C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{8_tedbir}</a:t>
                </a:r>
                <a:endParaRPr kumimoji="0" lang="az-Latn-AZ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16" name="Группа 27">
            <a:extLst>
              <a:ext uri="{FF2B5EF4-FFF2-40B4-BE49-F238E27FC236}">
                <a16:creationId xmlns:a16="http://schemas.microsoft.com/office/drawing/2014/main" id="{BCB8B1D4-4B29-B5EB-378C-35C7579BAB11}"/>
              </a:ext>
            </a:extLst>
          </p:cNvPr>
          <p:cNvGrpSpPr/>
          <p:nvPr/>
        </p:nvGrpSpPr>
        <p:grpSpPr>
          <a:xfrm>
            <a:off x="1723355" y="3556321"/>
            <a:ext cx="3540541" cy="923330"/>
            <a:chOff x="7589688" y="3523012"/>
            <a:chExt cx="3540541" cy="92333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188E16-3158-45D4-2264-47AED3E931C3}"/>
                </a:ext>
              </a:extLst>
            </p:cNvPr>
            <p:cNvSpPr txBox="1"/>
            <p:nvPr/>
          </p:nvSpPr>
          <p:spPr>
            <a:xfrm>
              <a:off x="8895870" y="3544399"/>
              <a:ext cx="22343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400" b="1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tədbir üzrə) </a:t>
              </a:r>
              <a:b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tam icra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edilmişdir</a:t>
              </a:r>
            </a:p>
          </p:txBody>
        </p:sp>
        <p:grpSp>
          <p:nvGrpSpPr>
            <p:cNvPr id="18" name="Группа 24">
              <a:extLst>
                <a:ext uri="{FF2B5EF4-FFF2-40B4-BE49-F238E27FC236}">
                  <a16:creationId xmlns:a16="http://schemas.microsoft.com/office/drawing/2014/main" id="{379FA562-8534-A105-34A7-0C394F0312A9}"/>
                </a:ext>
              </a:extLst>
            </p:cNvPr>
            <p:cNvGrpSpPr/>
            <p:nvPr/>
          </p:nvGrpSpPr>
          <p:grpSpPr>
            <a:xfrm>
              <a:off x="7589688" y="3523012"/>
              <a:ext cx="1709384" cy="923330"/>
              <a:chOff x="7589688" y="2186302"/>
              <a:chExt cx="1709384" cy="92333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30C983-00AD-BEE0-0CED-10E00AFE60D3}"/>
                  </a:ext>
                </a:extLst>
              </p:cNvPr>
              <p:cNvSpPr txBox="1"/>
              <p:nvPr/>
            </p:nvSpPr>
            <p:spPr>
              <a:xfrm>
                <a:off x="8509999" y="2336705"/>
                <a:ext cx="78907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  <a:r>
                  <a:rPr kumimoji="0" lang="az-Latn-A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-i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91F6A4-564D-764E-D15A-375DD6512EDA}"/>
                  </a:ext>
                </a:extLst>
              </p:cNvPr>
              <p:cNvSpPr txBox="1"/>
              <p:nvPr/>
            </p:nvSpPr>
            <p:spPr>
              <a:xfrm>
                <a:off x="7589688" y="2186302"/>
                <a:ext cx="855065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en-US" sz="3000" b="1" dirty="0">
                    <a:solidFill>
                      <a:srgbClr val="00B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{8_tf}</a:t>
                </a:r>
                <a:endParaRPr kumimoji="0" lang="az-Latn-AZ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21" name="Группа 28">
            <a:extLst>
              <a:ext uri="{FF2B5EF4-FFF2-40B4-BE49-F238E27FC236}">
                <a16:creationId xmlns:a16="http://schemas.microsoft.com/office/drawing/2014/main" id="{D8F4C373-0BAA-DDDB-3E05-D95332AC6623}"/>
              </a:ext>
            </a:extLst>
          </p:cNvPr>
          <p:cNvGrpSpPr/>
          <p:nvPr/>
        </p:nvGrpSpPr>
        <p:grpSpPr>
          <a:xfrm>
            <a:off x="1755560" y="4152422"/>
            <a:ext cx="3521343" cy="1384995"/>
            <a:chOff x="7589689" y="3523012"/>
            <a:chExt cx="3521343" cy="138499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FD420B-26E2-508D-E300-08E83196DA85}"/>
                </a:ext>
              </a:extLst>
            </p:cNvPr>
            <p:cNvSpPr txBox="1"/>
            <p:nvPr/>
          </p:nvSpPr>
          <p:spPr>
            <a:xfrm>
              <a:off x="8876673" y="3525923"/>
              <a:ext cx="22343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400" b="1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tədbir üzrə) </a:t>
              </a:r>
              <a:b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qismən icra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edilmişdir</a:t>
              </a:r>
            </a:p>
          </p:txBody>
        </p:sp>
        <p:grpSp>
          <p:nvGrpSpPr>
            <p:cNvPr id="23" name="Группа 31">
              <a:extLst>
                <a:ext uri="{FF2B5EF4-FFF2-40B4-BE49-F238E27FC236}">
                  <a16:creationId xmlns:a16="http://schemas.microsoft.com/office/drawing/2014/main" id="{1074441C-8803-C4F9-DAA8-E9196E3DA70C}"/>
                </a:ext>
              </a:extLst>
            </p:cNvPr>
            <p:cNvGrpSpPr/>
            <p:nvPr/>
          </p:nvGrpSpPr>
          <p:grpSpPr>
            <a:xfrm>
              <a:off x="7589689" y="3523012"/>
              <a:ext cx="1664599" cy="1384992"/>
              <a:chOff x="7589689" y="2186302"/>
              <a:chExt cx="1664599" cy="138499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3555C3-F4BF-BD03-9EE8-6326F4FB5BFE}"/>
                  </a:ext>
                </a:extLst>
              </p:cNvPr>
              <p:cNvSpPr txBox="1"/>
              <p:nvPr/>
            </p:nvSpPr>
            <p:spPr>
              <a:xfrm>
                <a:off x="8465215" y="2336705"/>
                <a:ext cx="78907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  <a:r>
                  <a:rPr kumimoji="0" lang="az-Latn-A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-i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8FEE0A-5E5C-AA5B-DCF8-AAD09D4873E3}"/>
                  </a:ext>
                </a:extLst>
              </p:cNvPr>
              <p:cNvSpPr txBox="1"/>
              <p:nvPr/>
            </p:nvSpPr>
            <p:spPr>
              <a:xfrm>
                <a:off x="7589689" y="2186302"/>
                <a:ext cx="711630" cy="13849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{8_qf}</a:t>
                </a:r>
                <a:endParaRPr kumimoji="0" lang="az-Latn-AZ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EE6856-8463-F8C4-EACB-84AFDC78DBF3}"/>
                </a:ext>
              </a:extLst>
            </p:cNvPr>
            <p:cNvSpPr txBox="1"/>
            <p:nvPr/>
          </p:nvSpPr>
          <p:spPr>
            <a:xfrm>
              <a:off x="8928429" y="3531887"/>
              <a:ext cx="287253" cy="646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{8_qr}</a:t>
              </a:r>
              <a:endPara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17DFDF4-2399-2988-AD32-380204C09A01}"/>
              </a:ext>
            </a:extLst>
          </p:cNvPr>
          <p:cNvSpPr txBox="1"/>
          <p:nvPr/>
        </p:nvSpPr>
        <p:spPr>
          <a:xfrm>
            <a:off x="1734134" y="1123437"/>
            <a:ext cx="295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{8_t</a:t>
            </a:r>
            <a:r>
              <a:rPr lang="az-Latn-AZ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edfaiz</a:t>
            </a:r>
            <a:r>
              <a:rPr lang="en-US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27CF4D-AA22-90E9-EBEE-E5FF3AB4597F}"/>
              </a:ext>
            </a:extLst>
          </p:cNvPr>
          <p:cNvSpPr txBox="1"/>
          <p:nvPr/>
        </p:nvSpPr>
        <p:spPr>
          <a:xfrm>
            <a:off x="5341633" y="4306663"/>
            <a:ext cx="56052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Hesabat dövründə icrası nəzərdə tutulan ümumilikdə </a:t>
            </a:r>
          </a:p>
        </p:txBody>
      </p:sp>
      <p:grpSp>
        <p:nvGrpSpPr>
          <p:cNvPr id="29" name="Группа 6">
            <a:extLst>
              <a:ext uri="{FF2B5EF4-FFF2-40B4-BE49-F238E27FC236}">
                <a16:creationId xmlns:a16="http://schemas.microsoft.com/office/drawing/2014/main" id="{3AC66B68-286E-B063-EE1A-CA6ADFEB88B3}"/>
              </a:ext>
            </a:extLst>
          </p:cNvPr>
          <p:cNvGrpSpPr/>
          <p:nvPr/>
        </p:nvGrpSpPr>
        <p:grpSpPr>
          <a:xfrm>
            <a:off x="5276903" y="4673634"/>
            <a:ext cx="2626030" cy="1477328"/>
            <a:chOff x="7457805" y="2159407"/>
            <a:chExt cx="2626030" cy="147732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4C7EBE-26FD-CA20-85AA-6A11D237CDED}"/>
                </a:ext>
              </a:extLst>
            </p:cNvPr>
            <p:cNvSpPr txBox="1"/>
            <p:nvPr/>
          </p:nvSpPr>
          <p:spPr>
            <a:xfrm>
              <a:off x="7917988" y="2232188"/>
              <a:ext cx="216584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STRATEJİ MƏQSƏD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DC0D3A-2BDB-6CE8-C2AC-9473AD9ED545}"/>
                </a:ext>
              </a:extLst>
            </p:cNvPr>
            <p:cNvSpPr txBox="1"/>
            <p:nvPr/>
          </p:nvSpPr>
          <p:spPr>
            <a:xfrm>
              <a:off x="7457805" y="2159407"/>
              <a:ext cx="460183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{8_sm}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2" name="Группа 11">
            <a:extLst>
              <a:ext uri="{FF2B5EF4-FFF2-40B4-BE49-F238E27FC236}">
                <a16:creationId xmlns:a16="http://schemas.microsoft.com/office/drawing/2014/main" id="{2B5791EA-F5FD-9795-EEAF-7220792F4B94}"/>
              </a:ext>
            </a:extLst>
          </p:cNvPr>
          <p:cNvGrpSpPr/>
          <p:nvPr/>
        </p:nvGrpSpPr>
        <p:grpSpPr>
          <a:xfrm>
            <a:off x="5276904" y="5085877"/>
            <a:ext cx="2778441" cy="1107996"/>
            <a:chOff x="7572266" y="2159407"/>
            <a:chExt cx="2778441" cy="110799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79DB43-B63E-420B-624B-5A9473447715}"/>
                </a:ext>
              </a:extLst>
            </p:cNvPr>
            <p:cNvSpPr txBox="1"/>
            <p:nvPr/>
          </p:nvSpPr>
          <p:spPr>
            <a:xfrm>
              <a:off x="8054007" y="2258188"/>
              <a:ext cx="22967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PRİORİTET İSTİQAMƏT üzrə: </a:t>
              </a:r>
              <a:endPara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F92996E-A9FD-96FF-E981-ED7A78D3A121}"/>
                </a:ext>
              </a:extLst>
            </p:cNvPr>
            <p:cNvSpPr txBox="1"/>
            <p:nvPr/>
          </p:nvSpPr>
          <p:spPr>
            <a:xfrm>
              <a:off x="7572266" y="2159407"/>
              <a:ext cx="460183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{8_pi}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5" name="Группа 17">
            <a:extLst>
              <a:ext uri="{FF2B5EF4-FFF2-40B4-BE49-F238E27FC236}">
                <a16:creationId xmlns:a16="http://schemas.microsoft.com/office/drawing/2014/main" id="{8C88F781-68FB-F6B0-F75B-9E4503295869}"/>
              </a:ext>
            </a:extLst>
          </p:cNvPr>
          <p:cNvGrpSpPr/>
          <p:nvPr/>
        </p:nvGrpSpPr>
        <p:grpSpPr>
          <a:xfrm>
            <a:off x="8238857" y="4673634"/>
            <a:ext cx="1236735" cy="738664"/>
            <a:chOff x="8964926" y="3675342"/>
            <a:chExt cx="1236735" cy="73866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C777099-0895-B7D1-3555-DF0AA7CE116F}"/>
                </a:ext>
              </a:extLst>
            </p:cNvPr>
            <p:cNvSpPr txBox="1"/>
            <p:nvPr/>
          </p:nvSpPr>
          <p:spPr>
            <a:xfrm>
              <a:off x="9821063" y="3753630"/>
              <a:ext cx="38059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%</a:t>
              </a:r>
              <a:r>
                <a:rPr kumimoji="0" lang="az-Latn-A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-i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792F779-0BFC-A9DA-B233-EB2F8B75DB20}"/>
                </a:ext>
              </a:extLst>
            </p:cNvPr>
            <p:cNvSpPr txBox="1"/>
            <p:nvPr/>
          </p:nvSpPr>
          <p:spPr>
            <a:xfrm>
              <a:off x="8964926" y="3675342"/>
              <a:ext cx="768838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{8_iti}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C8EBAB7-5053-CC34-93DA-EAC5D26E100C}"/>
              </a:ext>
            </a:extLst>
          </p:cNvPr>
          <p:cNvSpPr txBox="1"/>
          <p:nvPr/>
        </p:nvSpPr>
        <p:spPr>
          <a:xfrm>
            <a:off x="9571518" y="4782699"/>
            <a:ext cx="224220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şlər tam icra </a:t>
            </a: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edilmiş,</a:t>
            </a:r>
          </a:p>
        </p:txBody>
      </p:sp>
      <p:grpSp>
        <p:nvGrpSpPr>
          <p:cNvPr id="47" name="Группа 18">
            <a:extLst>
              <a:ext uri="{FF2B5EF4-FFF2-40B4-BE49-F238E27FC236}">
                <a16:creationId xmlns:a16="http://schemas.microsoft.com/office/drawing/2014/main" id="{FED292D1-2FA2-B856-B014-46045A7E1808}"/>
              </a:ext>
            </a:extLst>
          </p:cNvPr>
          <p:cNvGrpSpPr/>
          <p:nvPr/>
        </p:nvGrpSpPr>
        <p:grpSpPr>
          <a:xfrm>
            <a:off x="8281986" y="5092206"/>
            <a:ext cx="1383974" cy="738664"/>
            <a:chOff x="8990633" y="3675342"/>
            <a:chExt cx="1383974" cy="73866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4C0B5DB-F9B5-5EAA-9B11-5BF857C9BF49}"/>
                </a:ext>
              </a:extLst>
            </p:cNvPr>
            <p:cNvSpPr txBox="1"/>
            <p:nvPr/>
          </p:nvSpPr>
          <p:spPr>
            <a:xfrm>
              <a:off x="9665368" y="3777531"/>
              <a:ext cx="709239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%</a:t>
              </a:r>
              <a:r>
                <a:rPr kumimoji="0" lang="az-Latn-A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-i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isə</a:t>
              </a:r>
              <a:endPara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49E8A93-5074-211A-BBE4-146FC39253E8}"/>
                </a:ext>
              </a:extLst>
            </p:cNvPr>
            <p:cNvSpPr txBox="1"/>
            <p:nvPr/>
          </p:nvSpPr>
          <p:spPr>
            <a:xfrm>
              <a:off x="8990633" y="3675342"/>
              <a:ext cx="70923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{8_iqi}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AD6467B-7CE7-A8BF-8A16-120FB98942DC}"/>
              </a:ext>
            </a:extLst>
          </p:cNvPr>
          <p:cNvSpPr txBox="1"/>
          <p:nvPr/>
        </p:nvSpPr>
        <p:spPr>
          <a:xfrm>
            <a:off x="9571518" y="5234702"/>
            <a:ext cx="186721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şlər qismən icra </a:t>
            </a: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edilmişdir və icrası davam etməkdədir.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099A4F-7CEA-77BE-427A-A5E38CF6B13F}"/>
              </a:ext>
            </a:extLst>
          </p:cNvPr>
          <p:cNvSpPr txBox="1"/>
          <p:nvPr/>
        </p:nvSpPr>
        <p:spPr>
          <a:xfrm>
            <a:off x="3083500" y="3583493"/>
            <a:ext cx="32393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{8_tr}</a:t>
            </a:r>
            <a:endParaRPr kumimoji="0" lang="az-Latn-AZ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8C2DEE-FAA9-B402-956B-6B9C942DF823}"/>
              </a:ext>
            </a:extLst>
          </p:cNvPr>
          <p:cNvSpPr txBox="1"/>
          <p:nvPr/>
        </p:nvSpPr>
        <p:spPr>
          <a:xfrm>
            <a:off x="1163747" y="563561"/>
            <a:ext cx="69105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_title}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153E7A-CA8B-A1D0-571B-E3D113AF86EC}"/>
              </a:ext>
            </a:extLst>
          </p:cNvPr>
          <p:cNvSpPr txBox="1"/>
          <p:nvPr/>
        </p:nvSpPr>
        <p:spPr>
          <a:xfrm>
            <a:off x="3588590" y="557441"/>
            <a:ext cx="78059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ru-RU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_subtitle}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4" name="slide_8_diagram">
            <a:extLst>
              <a:ext uri="{FF2B5EF4-FFF2-40B4-BE49-F238E27FC236}">
                <a16:creationId xmlns:a16="http://schemas.microsoft.com/office/drawing/2014/main" id="{1A18E70E-46D9-3AAB-C1C6-D4D89EBAE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384" y="1735609"/>
            <a:ext cx="6749161" cy="24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9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5A15-3675-628A-50C2-A2D467C0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21EFB-D000-D50C-8F7C-E4E2EA78B763}"/>
              </a:ext>
            </a:extLst>
          </p:cNvPr>
          <p:cNvSpPr txBox="1"/>
          <p:nvPr/>
        </p:nvSpPr>
        <p:spPr>
          <a:xfrm>
            <a:off x="1163748" y="563561"/>
            <a:ext cx="650421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{9_title}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81A40-BB9D-3DAD-8E3D-CF1EA685D3A4}"/>
              </a:ext>
            </a:extLst>
          </p:cNvPr>
          <p:cNvSpPr txBox="1"/>
          <p:nvPr/>
        </p:nvSpPr>
        <p:spPr>
          <a:xfrm>
            <a:off x="4157932" y="557441"/>
            <a:ext cx="72365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{9_subtitle}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00" name="Группа 13">
            <a:extLst>
              <a:ext uri="{FF2B5EF4-FFF2-40B4-BE49-F238E27FC236}">
                <a16:creationId xmlns:a16="http://schemas.microsoft.com/office/drawing/2014/main" id="{6CAD11D9-ECEA-582B-A228-3646B63B165E}"/>
              </a:ext>
            </a:extLst>
          </p:cNvPr>
          <p:cNvGrpSpPr/>
          <p:nvPr/>
        </p:nvGrpSpPr>
        <p:grpSpPr>
          <a:xfrm>
            <a:off x="-192650" y="1174788"/>
            <a:ext cx="5132717" cy="4581100"/>
            <a:chOff x="-189781" y="1177658"/>
            <a:chExt cx="5132717" cy="4581100"/>
          </a:xfrm>
        </p:grpSpPr>
        <p:grpSp>
          <p:nvGrpSpPr>
            <p:cNvPr id="301" name="Группа 112">
              <a:extLst>
                <a:ext uri="{FF2B5EF4-FFF2-40B4-BE49-F238E27FC236}">
                  <a16:creationId xmlns:a16="http://schemas.microsoft.com/office/drawing/2014/main" id="{1324BD0B-0ECC-36F7-C77C-C01F305A9A25}"/>
                </a:ext>
              </a:extLst>
            </p:cNvPr>
            <p:cNvGrpSpPr/>
            <p:nvPr/>
          </p:nvGrpSpPr>
          <p:grpSpPr>
            <a:xfrm>
              <a:off x="1033252" y="2748439"/>
              <a:ext cx="3909684" cy="507396"/>
              <a:chOff x="1034768" y="2759679"/>
              <a:chExt cx="3909684" cy="507396"/>
            </a:xfrm>
          </p:grpSpPr>
          <p:sp>
            <p:nvSpPr>
              <p:cNvPr id="329" name="Прямоугольник 42">
                <a:extLst>
                  <a:ext uri="{FF2B5EF4-FFF2-40B4-BE49-F238E27FC236}">
                    <a16:creationId xmlns:a16="http://schemas.microsoft.com/office/drawing/2014/main" id="{D52F814D-94F0-40A7-B7B5-D57DF2E4CF19}"/>
                  </a:ext>
                </a:extLst>
              </p:cNvPr>
              <p:cNvSpPr/>
              <p:nvPr/>
            </p:nvSpPr>
            <p:spPr>
              <a:xfrm>
                <a:off x="1034768" y="2759679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30" name="Группа 43">
                <a:extLst>
                  <a:ext uri="{FF2B5EF4-FFF2-40B4-BE49-F238E27FC236}">
                    <a16:creationId xmlns:a16="http://schemas.microsoft.com/office/drawing/2014/main" id="{0B1E45C5-7352-822C-5754-188E45822CF5}"/>
                  </a:ext>
                </a:extLst>
              </p:cNvPr>
              <p:cNvGrpSpPr/>
              <p:nvPr/>
            </p:nvGrpSpPr>
            <p:grpSpPr>
              <a:xfrm>
                <a:off x="1098551" y="2822847"/>
                <a:ext cx="3845901" cy="369332"/>
                <a:chOff x="1082596" y="2760509"/>
                <a:chExt cx="3845901" cy="369332"/>
              </a:xfrm>
            </p:grpSpPr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54E5100D-1BC2-01CB-8CB0-780BB2FBA0CA}"/>
                    </a:ext>
                  </a:extLst>
                </p:cNvPr>
                <p:cNvSpPr txBox="1"/>
                <p:nvPr/>
              </p:nvSpPr>
              <p:spPr>
                <a:xfrm>
                  <a:off x="2514839" y="2806675"/>
                  <a:ext cx="2413658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D80F79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{9_number_1}</a:t>
                  </a:r>
                  <a:endParaRPr kumimoji="0" lang="en-US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0F7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32" name="TextBox 331">
                  <a:extLst>
                    <a:ext uri="{FF2B5EF4-FFF2-40B4-BE49-F238E27FC236}">
                      <a16:creationId xmlns:a16="http://schemas.microsoft.com/office/drawing/2014/main" id="{7F739633-40D7-8D75-E4C0-818BF65C0E05}"/>
                    </a:ext>
                  </a:extLst>
                </p:cNvPr>
                <p:cNvSpPr txBox="1"/>
                <p:nvPr/>
              </p:nvSpPr>
              <p:spPr>
                <a:xfrm>
                  <a:off x="1082596" y="2760509"/>
                  <a:ext cx="13401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birbaşa </a:t>
                  </a:r>
                  <a:b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</a:b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müraciətlər</a:t>
                  </a:r>
                </a:p>
              </p:txBody>
            </p:sp>
          </p:grpSp>
        </p:grpSp>
        <p:grpSp>
          <p:nvGrpSpPr>
            <p:cNvPr id="302" name="Группа 117">
              <a:extLst>
                <a:ext uri="{FF2B5EF4-FFF2-40B4-BE49-F238E27FC236}">
                  <a16:creationId xmlns:a16="http://schemas.microsoft.com/office/drawing/2014/main" id="{E033F3C3-E429-C437-CFB3-0F8CF1B4BB34}"/>
                </a:ext>
              </a:extLst>
            </p:cNvPr>
            <p:cNvGrpSpPr/>
            <p:nvPr/>
          </p:nvGrpSpPr>
          <p:grpSpPr>
            <a:xfrm>
              <a:off x="-189781" y="1177658"/>
              <a:ext cx="3992262" cy="1434533"/>
              <a:chOff x="-188265" y="1241992"/>
              <a:chExt cx="3992262" cy="1434533"/>
            </a:xfrm>
          </p:grpSpPr>
          <p:sp>
            <p:nvSpPr>
              <p:cNvPr id="323" name="Прямоугольник 46">
                <a:extLst>
                  <a:ext uri="{FF2B5EF4-FFF2-40B4-BE49-F238E27FC236}">
                    <a16:creationId xmlns:a16="http://schemas.microsoft.com/office/drawing/2014/main" id="{9608D004-4DE1-5F2E-F3CE-3B785901B911}"/>
                  </a:ext>
                </a:extLst>
              </p:cNvPr>
              <p:cNvSpPr/>
              <p:nvPr/>
            </p:nvSpPr>
            <p:spPr>
              <a:xfrm>
                <a:off x="1034768" y="1241992"/>
                <a:ext cx="2769229" cy="1434533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24" name="Группа 47">
                <a:extLst>
                  <a:ext uri="{FF2B5EF4-FFF2-40B4-BE49-F238E27FC236}">
                    <a16:creationId xmlns:a16="http://schemas.microsoft.com/office/drawing/2014/main" id="{1281E8B1-485C-946A-28F8-BBCAAC41A65F}"/>
                  </a:ext>
                </a:extLst>
              </p:cNvPr>
              <p:cNvGrpSpPr/>
              <p:nvPr/>
            </p:nvGrpSpPr>
            <p:grpSpPr>
              <a:xfrm>
                <a:off x="-188265" y="1341485"/>
                <a:ext cx="3775537" cy="1271987"/>
                <a:chOff x="2263117" y="1431411"/>
                <a:chExt cx="3775537" cy="1271987"/>
              </a:xfrm>
            </p:grpSpPr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C9A58ADC-9B92-6A50-201D-B3DDF518D896}"/>
                    </a:ext>
                  </a:extLst>
                </p:cNvPr>
                <p:cNvSpPr txBox="1"/>
                <p:nvPr/>
              </p:nvSpPr>
              <p:spPr>
                <a:xfrm>
                  <a:off x="2263117" y="2241733"/>
                  <a:ext cx="3775537" cy="4616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3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C000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{9_total_requests}</a:t>
                  </a:r>
                  <a:endParaRPr kumimoji="0" lang="az-Latn-AZ" sz="3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326" name="Группа 49">
                  <a:extLst>
                    <a:ext uri="{FF2B5EF4-FFF2-40B4-BE49-F238E27FC236}">
                      <a16:creationId xmlns:a16="http://schemas.microsoft.com/office/drawing/2014/main" id="{7A887A37-07DE-4A21-ECA4-60D9B19FF9EE}"/>
                    </a:ext>
                  </a:extLst>
                </p:cNvPr>
                <p:cNvGrpSpPr/>
                <p:nvPr/>
              </p:nvGrpSpPr>
              <p:grpSpPr>
                <a:xfrm>
                  <a:off x="3664830" y="1431411"/>
                  <a:ext cx="2280782" cy="821340"/>
                  <a:chOff x="3129419" y="1263786"/>
                  <a:chExt cx="2280782" cy="821340"/>
                </a:xfrm>
              </p:grpSpPr>
              <p:sp>
                <p:nvSpPr>
                  <p:cNvPr id="327" name="TextBox 326">
                    <a:extLst>
                      <a:ext uri="{FF2B5EF4-FFF2-40B4-BE49-F238E27FC236}">
                        <a16:creationId xmlns:a16="http://schemas.microsoft.com/office/drawing/2014/main" id="{7D405F44-B56C-45C6-0DA9-C36BC7B33D48}"/>
                      </a:ext>
                    </a:extLst>
                  </p:cNvPr>
                  <p:cNvSpPr txBox="1"/>
                  <p:nvPr/>
                </p:nvSpPr>
                <p:spPr>
                  <a:xfrm>
                    <a:off x="3129419" y="1263786"/>
                    <a:ext cx="2280782" cy="5539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az-Latn-AZ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ÜMUMİ 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az-Latn-AZ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MÜRACİƏT SAYI</a:t>
                    </a:r>
                  </a:p>
                </p:txBody>
              </p:sp>
              <p:sp>
                <p:nvSpPr>
                  <p:cNvPr id="328" name="TextBox 327">
                    <a:extLst>
                      <a:ext uri="{FF2B5EF4-FFF2-40B4-BE49-F238E27FC236}">
                        <a16:creationId xmlns:a16="http://schemas.microsoft.com/office/drawing/2014/main" id="{DAA9964F-F8F8-7268-AB90-3022D89D23C1}"/>
                      </a:ext>
                    </a:extLst>
                  </p:cNvPr>
                  <p:cNvSpPr txBox="1"/>
                  <p:nvPr/>
                </p:nvSpPr>
                <p:spPr>
                  <a:xfrm>
                    <a:off x="3590927" y="1900460"/>
                    <a:ext cx="18192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{9_period}</a:t>
                    </a:r>
                    <a:endPara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</p:grpSp>
        <p:grpSp>
          <p:nvGrpSpPr>
            <p:cNvPr id="303" name="Группа 113">
              <a:extLst>
                <a:ext uri="{FF2B5EF4-FFF2-40B4-BE49-F238E27FC236}">
                  <a16:creationId xmlns:a16="http://schemas.microsoft.com/office/drawing/2014/main" id="{98977032-28C1-58C7-8D44-95F7ECDE92F5}"/>
                </a:ext>
              </a:extLst>
            </p:cNvPr>
            <p:cNvGrpSpPr/>
            <p:nvPr/>
          </p:nvGrpSpPr>
          <p:grpSpPr>
            <a:xfrm>
              <a:off x="1033252" y="3336407"/>
              <a:ext cx="3375606" cy="658445"/>
              <a:chOff x="1034768" y="3304343"/>
              <a:chExt cx="3375606" cy="658445"/>
            </a:xfrm>
          </p:grpSpPr>
          <p:sp>
            <p:nvSpPr>
              <p:cNvPr id="319" name="Прямоугольник 92">
                <a:extLst>
                  <a:ext uri="{FF2B5EF4-FFF2-40B4-BE49-F238E27FC236}">
                    <a16:creationId xmlns:a16="http://schemas.microsoft.com/office/drawing/2014/main" id="{4B3D5337-6BB1-E137-D607-5E80311ECD8B}"/>
                  </a:ext>
                </a:extLst>
              </p:cNvPr>
              <p:cNvSpPr/>
              <p:nvPr/>
            </p:nvSpPr>
            <p:spPr>
              <a:xfrm>
                <a:off x="1034768" y="3304343"/>
                <a:ext cx="2769229" cy="6584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20" name="Группа 93">
                <a:extLst>
                  <a:ext uri="{FF2B5EF4-FFF2-40B4-BE49-F238E27FC236}">
                    <a16:creationId xmlns:a16="http://schemas.microsoft.com/office/drawing/2014/main" id="{C488CD75-0ECE-B6EA-E97F-B81C31B02584}"/>
                  </a:ext>
                </a:extLst>
              </p:cNvPr>
              <p:cNvGrpSpPr/>
              <p:nvPr/>
            </p:nvGrpSpPr>
            <p:grpSpPr>
              <a:xfrm>
                <a:off x="1098550" y="3422639"/>
                <a:ext cx="3311824" cy="369332"/>
                <a:chOff x="1082595" y="2815636"/>
                <a:chExt cx="3311824" cy="369332"/>
              </a:xfrm>
            </p:grpSpPr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EE71BDEB-AB7B-9FD0-D5D4-B42D0B718B0E}"/>
                    </a:ext>
                  </a:extLst>
                </p:cNvPr>
                <p:cNvSpPr txBox="1"/>
                <p:nvPr/>
              </p:nvSpPr>
              <p:spPr>
                <a:xfrm>
                  <a:off x="2514838" y="2872673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{9_number_2}</a:t>
                  </a:r>
                  <a:endParaRPr kumimoji="0" lang="az-Latn-AZ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449C5159-EBD2-ABF5-44E9-301BEAC36353}"/>
                    </a:ext>
                  </a:extLst>
                </p:cNvPr>
                <p:cNvSpPr txBox="1"/>
                <p:nvPr/>
              </p:nvSpPr>
              <p:spPr>
                <a:xfrm>
                  <a:off x="1082595" y="2815636"/>
                  <a:ext cx="134019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Funksional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yardımçı xidmətlər</a:t>
                  </a:r>
                </a:p>
              </p:txBody>
            </p:sp>
          </p:grpSp>
        </p:grpSp>
        <p:grpSp>
          <p:nvGrpSpPr>
            <p:cNvPr id="304" name="Группа 114">
              <a:extLst>
                <a:ext uri="{FF2B5EF4-FFF2-40B4-BE49-F238E27FC236}">
                  <a16:creationId xmlns:a16="http://schemas.microsoft.com/office/drawing/2014/main" id="{7D882CA1-AAB0-EE63-BD2C-F4A5A094D671}"/>
                </a:ext>
              </a:extLst>
            </p:cNvPr>
            <p:cNvGrpSpPr/>
            <p:nvPr/>
          </p:nvGrpSpPr>
          <p:grpSpPr>
            <a:xfrm>
              <a:off x="1033252" y="4075424"/>
              <a:ext cx="3375606" cy="507396"/>
              <a:chOff x="1034768" y="4001008"/>
              <a:chExt cx="3375606" cy="507396"/>
            </a:xfrm>
          </p:grpSpPr>
          <p:sp>
            <p:nvSpPr>
              <p:cNvPr id="315" name="Прямоугольник 100">
                <a:extLst>
                  <a:ext uri="{FF2B5EF4-FFF2-40B4-BE49-F238E27FC236}">
                    <a16:creationId xmlns:a16="http://schemas.microsoft.com/office/drawing/2014/main" id="{1FE10D05-4100-61DC-F89A-C9A0FDA8B281}"/>
                  </a:ext>
                </a:extLst>
              </p:cNvPr>
              <p:cNvSpPr/>
              <p:nvPr/>
            </p:nvSpPr>
            <p:spPr>
              <a:xfrm>
                <a:off x="1034768" y="4001008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16" name="Группа 101">
                <a:extLst>
                  <a:ext uri="{FF2B5EF4-FFF2-40B4-BE49-F238E27FC236}">
                    <a16:creationId xmlns:a16="http://schemas.microsoft.com/office/drawing/2014/main" id="{A5746045-0F0F-8656-D729-3237E44E2088}"/>
                  </a:ext>
                </a:extLst>
              </p:cNvPr>
              <p:cNvGrpSpPr/>
              <p:nvPr/>
            </p:nvGrpSpPr>
            <p:grpSpPr>
              <a:xfrm>
                <a:off x="1034768" y="4064176"/>
                <a:ext cx="3375606" cy="369332"/>
                <a:chOff x="1018813" y="2760509"/>
                <a:chExt cx="3375606" cy="369332"/>
              </a:xfrm>
            </p:grpSpPr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EF5DEE92-CBAE-8C48-365E-749D77CB7F8A}"/>
                    </a:ext>
                  </a:extLst>
                </p:cNvPr>
                <p:cNvSpPr txBox="1"/>
                <p:nvPr/>
              </p:nvSpPr>
              <p:spPr>
                <a:xfrm>
                  <a:off x="2514838" y="2806675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00206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{9_number_3}</a:t>
                  </a:r>
                  <a:endParaRPr lang="az-Latn-AZ" sz="19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42E88323-DC78-F3E3-C861-B99D04057CC8}"/>
                    </a:ext>
                  </a:extLst>
                </p:cNvPr>
                <p:cNvSpPr txBox="1"/>
                <p:nvPr/>
              </p:nvSpPr>
              <p:spPr>
                <a:xfrm>
                  <a:off x="1018813" y="2760509"/>
                  <a:ext cx="140397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Tibbi-Sosial Ekspert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Komissiyaları</a:t>
                  </a:r>
                </a:p>
              </p:txBody>
            </p:sp>
          </p:grpSp>
        </p:grpSp>
        <p:grpSp>
          <p:nvGrpSpPr>
            <p:cNvPr id="305" name="Группа 115">
              <a:extLst>
                <a:ext uri="{FF2B5EF4-FFF2-40B4-BE49-F238E27FC236}">
                  <a16:creationId xmlns:a16="http://schemas.microsoft.com/office/drawing/2014/main" id="{F6B2A5CD-C5F1-1F5A-2CA1-900115AB2589}"/>
                </a:ext>
              </a:extLst>
            </p:cNvPr>
            <p:cNvGrpSpPr/>
            <p:nvPr/>
          </p:nvGrpSpPr>
          <p:grpSpPr>
            <a:xfrm>
              <a:off x="1033252" y="4663392"/>
              <a:ext cx="3375606" cy="507396"/>
              <a:chOff x="1034768" y="4595665"/>
              <a:chExt cx="3375606" cy="507396"/>
            </a:xfrm>
          </p:grpSpPr>
          <p:sp>
            <p:nvSpPr>
              <p:cNvPr id="311" name="Прямоугольник 104">
                <a:extLst>
                  <a:ext uri="{FF2B5EF4-FFF2-40B4-BE49-F238E27FC236}">
                    <a16:creationId xmlns:a16="http://schemas.microsoft.com/office/drawing/2014/main" id="{A749A292-82B6-45E9-068F-5E93AB4383EF}"/>
                  </a:ext>
                </a:extLst>
              </p:cNvPr>
              <p:cNvSpPr/>
              <p:nvPr/>
            </p:nvSpPr>
            <p:spPr>
              <a:xfrm>
                <a:off x="1034768" y="4595665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12" name="Группа 105">
                <a:extLst>
                  <a:ext uri="{FF2B5EF4-FFF2-40B4-BE49-F238E27FC236}">
                    <a16:creationId xmlns:a16="http://schemas.microsoft.com/office/drawing/2014/main" id="{3F9691E8-B694-A9F2-8054-1C6259131041}"/>
                  </a:ext>
                </a:extLst>
              </p:cNvPr>
              <p:cNvGrpSpPr/>
              <p:nvPr/>
            </p:nvGrpSpPr>
            <p:grpSpPr>
              <a:xfrm>
                <a:off x="1034768" y="4658833"/>
                <a:ext cx="3375606" cy="369332"/>
                <a:chOff x="1018813" y="2760509"/>
                <a:chExt cx="3375606" cy="369332"/>
              </a:xfrm>
            </p:grpSpPr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A261ACB3-938A-BDCB-E0D7-C0ABB35FBAA6}"/>
                    </a:ext>
                  </a:extLst>
                </p:cNvPr>
                <p:cNvSpPr txBox="1"/>
                <p:nvPr/>
              </p:nvSpPr>
              <p:spPr>
                <a:xfrm>
                  <a:off x="2514838" y="2806675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00206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{9_number_4}</a:t>
                  </a:r>
                  <a:endParaRPr lang="az-Latn-AZ" sz="19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id="{7E7673C2-E27B-6703-D4C0-A91C801C9B14}"/>
                    </a:ext>
                  </a:extLst>
                </p:cNvPr>
                <p:cNvSpPr txBox="1"/>
                <p:nvPr/>
              </p:nvSpPr>
              <p:spPr>
                <a:xfrm>
                  <a:off x="1018813" y="2760509"/>
                  <a:ext cx="140397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Dövlət Əmək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Müfəttişliyi Xidməti</a:t>
                  </a:r>
                </a:p>
              </p:txBody>
            </p:sp>
          </p:grpSp>
        </p:grpSp>
        <p:grpSp>
          <p:nvGrpSpPr>
            <p:cNvPr id="306" name="Группа 116">
              <a:extLst>
                <a:ext uri="{FF2B5EF4-FFF2-40B4-BE49-F238E27FC236}">
                  <a16:creationId xmlns:a16="http://schemas.microsoft.com/office/drawing/2014/main" id="{E66BEBF4-F092-273F-754D-AA7119C11936}"/>
                </a:ext>
              </a:extLst>
            </p:cNvPr>
            <p:cNvGrpSpPr/>
            <p:nvPr/>
          </p:nvGrpSpPr>
          <p:grpSpPr>
            <a:xfrm>
              <a:off x="1033252" y="5251362"/>
              <a:ext cx="3375606" cy="507396"/>
              <a:chOff x="1034768" y="5140331"/>
              <a:chExt cx="3375606" cy="507396"/>
            </a:xfrm>
          </p:grpSpPr>
          <p:sp>
            <p:nvSpPr>
              <p:cNvPr id="307" name="Прямоугольник 108">
                <a:extLst>
                  <a:ext uri="{FF2B5EF4-FFF2-40B4-BE49-F238E27FC236}">
                    <a16:creationId xmlns:a16="http://schemas.microsoft.com/office/drawing/2014/main" id="{AB48DD32-AC45-8F7F-050A-02237E3E4E23}"/>
                  </a:ext>
                </a:extLst>
              </p:cNvPr>
              <p:cNvSpPr/>
              <p:nvPr/>
            </p:nvSpPr>
            <p:spPr>
              <a:xfrm>
                <a:off x="1034768" y="5140331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08" name="Группа 109">
                <a:extLst>
                  <a:ext uri="{FF2B5EF4-FFF2-40B4-BE49-F238E27FC236}">
                    <a16:creationId xmlns:a16="http://schemas.microsoft.com/office/drawing/2014/main" id="{7018022A-4F0B-31CA-016B-383566A09B2B}"/>
                  </a:ext>
                </a:extLst>
              </p:cNvPr>
              <p:cNvGrpSpPr/>
              <p:nvPr/>
            </p:nvGrpSpPr>
            <p:grpSpPr>
              <a:xfrm>
                <a:off x="1034768" y="5203499"/>
                <a:ext cx="3375606" cy="369332"/>
                <a:chOff x="1018813" y="2760509"/>
                <a:chExt cx="3375606" cy="369332"/>
              </a:xfrm>
            </p:grpSpPr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8FFE1AEC-E276-3153-D561-4C744E9B5989}"/>
                    </a:ext>
                  </a:extLst>
                </p:cNvPr>
                <p:cNvSpPr txBox="1"/>
                <p:nvPr/>
              </p:nvSpPr>
              <p:spPr>
                <a:xfrm>
                  <a:off x="2514838" y="2806675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00206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{9_number_5}</a:t>
                  </a:r>
                  <a:endParaRPr lang="az-Latn-AZ" sz="19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1FA9704C-9310-D5AB-E3A8-F0F181E13EA8}"/>
                    </a:ext>
                  </a:extLst>
                </p:cNvPr>
                <p:cNvSpPr txBox="1"/>
                <p:nvPr/>
              </p:nvSpPr>
              <p:spPr>
                <a:xfrm>
                  <a:off x="1018813" y="2760509"/>
                  <a:ext cx="140397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elektron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xidmətlər</a:t>
                  </a:r>
                </a:p>
              </p:txBody>
            </p:sp>
          </p:grpSp>
        </p:grpSp>
      </p:grpSp>
      <p:sp>
        <p:nvSpPr>
          <p:cNvPr id="333" name="Прямоугольник 23">
            <a:extLst>
              <a:ext uri="{FF2B5EF4-FFF2-40B4-BE49-F238E27FC236}">
                <a16:creationId xmlns:a16="http://schemas.microsoft.com/office/drawing/2014/main" id="{F9933BA9-BF55-93ED-1128-5A0B207C272A}"/>
              </a:ext>
            </a:extLst>
          </p:cNvPr>
          <p:cNvSpPr/>
          <p:nvPr/>
        </p:nvSpPr>
        <p:spPr>
          <a:xfrm>
            <a:off x="4540370" y="1179216"/>
            <a:ext cx="4698812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380099D3-EC58-7887-C050-EA41B2ABFBF9}"/>
              </a:ext>
            </a:extLst>
          </p:cNvPr>
          <p:cNvSpPr txBox="1"/>
          <p:nvPr/>
        </p:nvSpPr>
        <p:spPr>
          <a:xfrm>
            <a:off x="4539279" y="1225642"/>
            <a:ext cx="46999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Birbaşa müraciət sayı</a:t>
            </a:r>
          </a:p>
        </p:txBody>
      </p:sp>
      <p:grpSp>
        <p:nvGrpSpPr>
          <p:cNvPr id="335" name="Группа 24">
            <a:extLst>
              <a:ext uri="{FF2B5EF4-FFF2-40B4-BE49-F238E27FC236}">
                <a16:creationId xmlns:a16="http://schemas.microsoft.com/office/drawing/2014/main" id="{7B127C4D-76BA-A992-EFD2-154186F32D22}"/>
              </a:ext>
            </a:extLst>
          </p:cNvPr>
          <p:cNvGrpSpPr/>
          <p:nvPr/>
        </p:nvGrpSpPr>
        <p:grpSpPr>
          <a:xfrm>
            <a:off x="4539279" y="1644067"/>
            <a:ext cx="1355646" cy="1457506"/>
            <a:chOff x="765928" y="2366591"/>
            <a:chExt cx="1355646" cy="1457506"/>
          </a:xfrm>
        </p:grpSpPr>
        <p:pic>
          <p:nvPicPr>
            <p:cNvPr id="336" name="Рисунок 65">
              <a:extLst>
                <a:ext uri="{FF2B5EF4-FFF2-40B4-BE49-F238E27FC236}">
                  <a16:creationId xmlns:a16="http://schemas.microsoft.com/office/drawing/2014/main" id="{CAE5D873-9DBD-F9E7-FF94-A3C8EAD9B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87" b="12896"/>
            <a:stretch/>
          </p:blipFill>
          <p:spPr>
            <a:xfrm>
              <a:off x="765929" y="2366591"/>
              <a:ext cx="1355645" cy="1400697"/>
            </a:xfrm>
            <a:prstGeom prst="rect">
              <a:avLst/>
            </a:prstGeom>
          </p:spPr>
        </p:pic>
        <p:sp>
          <p:nvSpPr>
            <p:cNvPr id="337" name="Прямоугольник 39">
              <a:extLst>
                <a:ext uri="{FF2B5EF4-FFF2-40B4-BE49-F238E27FC236}">
                  <a16:creationId xmlns:a16="http://schemas.microsoft.com/office/drawing/2014/main" id="{C484A7EC-9B31-F15B-07CD-C1B0594BBDB9}"/>
                </a:ext>
              </a:extLst>
            </p:cNvPr>
            <p:cNvSpPr/>
            <p:nvPr/>
          </p:nvSpPr>
          <p:spPr>
            <a:xfrm>
              <a:off x="765929" y="2539757"/>
              <a:ext cx="135564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2025-cü il</a:t>
              </a:r>
            </a:p>
          </p:txBody>
        </p:sp>
        <p:sp>
          <p:nvSpPr>
            <p:cNvPr id="338" name="Прямоугольник 41">
              <a:extLst>
                <a:ext uri="{FF2B5EF4-FFF2-40B4-BE49-F238E27FC236}">
                  <a16:creationId xmlns:a16="http://schemas.microsoft.com/office/drawing/2014/main" id="{C16B08BB-04EC-AAA8-EB08-462C051C9A58}"/>
                </a:ext>
              </a:extLst>
            </p:cNvPr>
            <p:cNvSpPr/>
            <p:nvPr/>
          </p:nvSpPr>
          <p:spPr>
            <a:xfrm>
              <a:off x="765928" y="3270099"/>
              <a:ext cx="1355646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lang="en-US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{9_year_requests}</a:t>
              </a:r>
              <a:endPara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39" name="Группа 28">
            <a:extLst>
              <a:ext uri="{FF2B5EF4-FFF2-40B4-BE49-F238E27FC236}">
                <a16:creationId xmlns:a16="http://schemas.microsoft.com/office/drawing/2014/main" id="{F154A843-E8CA-5AC5-E544-D20628310916}"/>
              </a:ext>
            </a:extLst>
          </p:cNvPr>
          <p:cNvGrpSpPr/>
          <p:nvPr/>
        </p:nvGrpSpPr>
        <p:grpSpPr>
          <a:xfrm>
            <a:off x="6052299" y="1644066"/>
            <a:ext cx="1355647" cy="1456200"/>
            <a:chOff x="2266725" y="2366061"/>
            <a:chExt cx="1355647" cy="1456200"/>
          </a:xfrm>
        </p:grpSpPr>
        <p:pic>
          <p:nvPicPr>
            <p:cNvPr id="340" name="Рисунок 67">
              <a:extLst>
                <a:ext uri="{FF2B5EF4-FFF2-40B4-BE49-F238E27FC236}">
                  <a16:creationId xmlns:a16="http://schemas.microsoft.com/office/drawing/2014/main" id="{B3138504-CA08-C1FB-73F1-DB3CDE4D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58" b="12926"/>
            <a:stretch/>
          </p:blipFill>
          <p:spPr>
            <a:xfrm>
              <a:off x="2266726" y="2366061"/>
              <a:ext cx="1355645" cy="1400697"/>
            </a:xfrm>
            <a:prstGeom prst="rect">
              <a:avLst/>
            </a:prstGeom>
          </p:spPr>
        </p:pic>
        <p:sp>
          <p:nvSpPr>
            <p:cNvPr id="341" name="Прямоугольник 39">
              <a:extLst>
                <a:ext uri="{FF2B5EF4-FFF2-40B4-BE49-F238E27FC236}">
                  <a16:creationId xmlns:a16="http://schemas.microsoft.com/office/drawing/2014/main" id="{479666FE-4F96-63FF-E6E3-36D67CD28A71}"/>
                </a:ext>
              </a:extLst>
            </p:cNvPr>
            <p:cNvSpPr/>
            <p:nvPr/>
          </p:nvSpPr>
          <p:spPr>
            <a:xfrm>
              <a:off x="2266726" y="2539226"/>
              <a:ext cx="1355646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Kumulyativ</a:t>
              </a:r>
            </a:p>
          </p:txBody>
        </p:sp>
        <p:sp>
          <p:nvSpPr>
            <p:cNvPr id="342" name="Прямоугольник 41">
              <a:extLst>
                <a:ext uri="{FF2B5EF4-FFF2-40B4-BE49-F238E27FC236}">
                  <a16:creationId xmlns:a16="http://schemas.microsoft.com/office/drawing/2014/main" id="{444E8F2A-49DA-BC73-0FF0-2DDDABE74A68}"/>
                </a:ext>
              </a:extLst>
            </p:cNvPr>
            <p:cNvSpPr/>
            <p:nvPr/>
          </p:nvSpPr>
          <p:spPr>
            <a:xfrm>
              <a:off x="2266725" y="3268263"/>
              <a:ext cx="1355646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lang="en-US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{9_cum_requests}</a:t>
              </a:r>
              <a:endPara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44" name="Группа 13">
            <a:extLst>
              <a:ext uri="{FF2B5EF4-FFF2-40B4-BE49-F238E27FC236}">
                <a16:creationId xmlns:a16="http://schemas.microsoft.com/office/drawing/2014/main" id="{6BA8B3BD-0348-6BA0-A3BE-A72BB0076D37}"/>
              </a:ext>
            </a:extLst>
          </p:cNvPr>
          <p:cNvGrpSpPr/>
          <p:nvPr/>
        </p:nvGrpSpPr>
        <p:grpSpPr>
          <a:xfrm>
            <a:off x="4539879" y="3188823"/>
            <a:ext cx="1355646" cy="757524"/>
            <a:chOff x="6342241" y="1343671"/>
            <a:chExt cx="1066970" cy="681979"/>
          </a:xfrm>
        </p:grpSpPr>
        <p:sp>
          <p:nvSpPr>
            <p:cNvPr id="345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D083EDEC-387A-D35C-1C32-FABD986C15F4}"/>
                </a:ext>
              </a:extLst>
            </p:cNvPr>
            <p:cNvSpPr/>
            <p:nvPr/>
          </p:nvSpPr>
          <p:spPr>
            <a:xfrm>
              <a:off x="6421240" y="1343671"/>
              <a:ext cx="908972" cy="258659"/>
            </a:xfrm>
            <a:prstGeom prst="round2SameRect">
              <a:avLst>
                <a:gd name="adj1" fmla="val 47834"/>
                <a:gd name="adj2" fmla="val 0"/>
              </a:avLst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42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Bakı</a:t>
              </a:r>
            </a:p>
          </p:txBody>
        </p:sp>
        <p:sp>
          <p:nvSpPr>
            <p:cNvPr id="346" name="Прямоугольник: скругленные углы 3">
              <a:extLst>
                <a:ext uri="{FF2B5EF4-FFF2-40B4-BE49-F238E27FC236}">
                  <a16:creationId xmlns:a16="http://schemas.microsoft.com/office/drawing/2014/main" id="{70CC6B4E-6E33-B818-4978-A01E280DDD9B}"/>
                </a:ext>
              </a:extLst>
            </p:cNvPr>
            <p:cNvSpPr/>
            <p:nvPr/>
          </p:nvSpPr>
          <p:spPr>
            <a:xfrm>
              <a:off x="6342241" y="1601740"/>
              <a:ext cx="1066970" cy="423910"/>
            </a:xfrm>
            <a:prstGeom prst="roundRect">
              <a:avLst>
                <a:gd name="adj" fmla="val 17756"/>
              </a:avLst>
            </a:prstGeom>
            <a:solidFill>
              <a:srgbClr val="1C72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{9_baku}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A0FCF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47" name="Группа 14">
            <a:extLst>
              <a:ext uri="{FF2B5EF4-FFF2-40B4-BE49-F238E27FC236}">
                <a16:creationId xmlns:a16="http://schemas.microsoft.com/office/drawing/2014/main" id="{E31F09E0-FEE2-9794-A27C-87343C6F2D65}"/>
              </a:ext>
            </a:extLst>
          </p:cNvPr>
          <p:cNvGrpSpPr/>
          <p:nvPr/>
        </p:nvGrpSpPr>
        <p:grpSpPr>
          <a:xfrm>
            <a:off x="6052299" y="3188823"/>
            <a:ext cx="1355646" cy="757524"/>
            <a:chOff x="7495836" y="1343671"/>
            <a:chExt cx="1066970" cy="681979"/>
          </a:xfrm>
        </p:grpSpPr>
        <p:sp>
          <p:nvSpPr>
            <p:cNvPr id="348" name="Прямоугольник: скругленные верхние углы 4">
              <a:extLst>
                <a:ext uri="{FF2B5EF4-FFF2-40B4-BE49-F238E27FC236}">
                  <a16:creationId xmlns:a16="http://schemas.microsoft.com/office/drawing/2014/main" id="{491029DA-E14D-94DD-57DF-88A7F3D6CC3D}"/>
                </a:ext>
              </a:extLst>
            </p:cNvPr>
            <p:cNvSpPr/>
            <p:nvPr/>
          </p:nvSpPr>
          <p:spPr>
            <a:xfrm>
              <a:off x="7574835" y="1343671"/>
              <a:ext cx="908972" cy="258659"/>
            </a:xfrm>
            <a:prstGeom prst="round2SameRect">
              <a:avLst>
                <a:gd name="adj1" fmla="val 47834"/>
                <a:gd name="adj2" fmla="val 0"/>
              </a:avLst>
            </a:prstGeom>
            <a:solidFill>
              <a:srgbClr val="E6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42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Regionlar</a:t>
              </a:r>
            </a:p>
          </p:txBody>
        </p:sp>
        <p:sp>
          <p:nvSpPr>
            <p:cNvPr id="349" name="Прямоугольник: скругленные углы 6">
              <a:extLst>
                <a:ext uri="{FF2B5EF4-FFF2-40B4-BE49-F238E27FC236}">
                  <a16:creationId xmlns:a16="http://schemas.microsoft.com/office/drawing/2014/main" id="{2AB66960-5A97-D613-ABB6-44065C500C41}"/>
                </a:ext>
              </a:extLst>
            </p:cNvPr>
            <p:cNvSpPr/>
            <p:nvPr/>
          </p:nvSpPr>
          <p:spPr>
            <a:xfrm>
              <a:off x="7495836" y="1601740"/>
              <a:ext cx="1066970" cy="423910"/>
            </a:xfrm>
            <a:prstGeom prst="roundRect">
              <a:avLst>
                <a:gd name="adj" fmla="val 17756"/>
              </a:avLst>
            </a:prstGeom>
            <a:solidFill>
              <a:srgbClr val="1CB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{9_regions}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A0FCF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50" name="Прямоугольник 4">
            <a:extLst>
              <a:ext uri="{FF2B5EF4-FFF2-40B4-BE49-F238E27FC236}">
                <a16:creationId xmlns:a16="http://schemas.microsoft.com/office/drawing/2014/main" id="{EEBDA177-AF36-CA68-0A1C-757EB79CC037}"/>
              </a:ext>
            </a:extLst>
          </p:cNvPr>
          <p:cNvSpPr/>
          <p:nvPr/>
        </p:nvSpPr>
        <p:spPr>
          <a:xfrm>
            <a:off x="4540370" y="4374396"/>
            <a:ext cx="2183130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8AA99F15-72C0-4227-7140-7DA55BD88CA8}"/>
              </a:ext>
            </a:extLst>
          </p:cNvPr>
          <p:cNvSpPr txBox="1"/>
          <p:nvPr/>
        </p:nvSpPr>
        <p:spPr>
          <a:xfrm>
            <a:off x="4539280" y="4420822"/>
            <a:ext cx="21842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Orta günlük müraciət sayı</a:t>
            </a:r>
          </a:p>
        </p:txBody>
      </p:sp>
      <p:sp>
        <p:nvSpPr>
          <p:cNvPr id="352" name="Прямоугольник 6">
            <a:extLst>
              <a:ext uri="{FF2B5EF4-FFF2-40B4-BE49-F238E27FC236}">
                <a16:creationId xmlns:a16="http://schemas.microsoft.com/office/drawing/2014/main" id="{A34C5981-FDA2-CDF7-D7E8-2C47AE3129E9}"/>
              </a:ext>
            </a:extLst>
          </p:cNvPr>
          <p:cNvSpPr/>
          <p:nvPr/>
        </p:nvSpPr>
        <p:spPr>
          <a:xfrm>
            <a:off x="6886087" y="4374396"/>
            <a:ext cx="2353093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86DD6058-78DC-A90C-CA87-A0977FF54E5B}"/>
              </a:ext>
            </a:extLst>
          </p:cNvPr>
          <p:cNvSpPr txBox="1"/>
          <p:nvPr/>
        </p:nvSpPr>
        <p:spPr>
          <a:xfrm>
            <a:off x="7062716" y="4420822"/>
            <a:ext cx="19998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Vətəndaş məmnunluğu</a:t>
            </a:r>
          </a:p>
        </p:txBody>
      </p:sp>
      <p:grpSp>
        <p:nvGrpSpPr>
          <p:cNvPr id="354" name="Группа 11">
            <a:extLst>
              <a:ext uri="{FF2B5EF4-FFF2-40B4-BE49-F238E27FC236}">
                <a16:creationId xmlns:a16="http://schemas.microsoft.com/office/drawing/2014/main" id="{FE73C9E7-2F28-8CFF-E64F-0F585BA179E0}"/>
              </a:ext>
            </a:extLst>
          </p:cNvPr>
          <p:cNvGrpSpPr/>
          <p:nvPr/>
        </p:nvGrpSpPr>
        <p:grpSpPr>
          <a:xfrm>
            <a:off x="9999937" y="1181948"/>
            <a:ext cx="1161234" cy="4630148"/>
            <a:chOff x="10002806" y="1184818"/>
            <a:chExt cx="1161234" cy="4630148"/>
          </a:xfrm>
        </p:grpSpPr>
        <p:grpSp>
          <p:nvGrpSpPr>
            <p:cNvPr id="355" name="Группа 8">
              <a:extLst>
                <a:ext uri="{FF2B5EF4-FFF2-40B4-BE49-F238E27FC236}">
                  <a16:creationId xmlns:a16="http://schemas.microsoft.com/office/drawing/2014/main" id="{CF20FBA8-F057-105F-DE3B-996426689200}"/>
                </a:ext>
              </a:extLst>
            </p:cNvPr>
            <p:cNvGrpSpPr/>
            <p:nvPr/>
          </p:nvGrpSpPr>
          <p:grpSpPr>
            <a:xfrm>
              <a:off x="10043423" y="2606938"/>
              <a:ext cx="1080000" cy="1296122"/>
              <a:chOff x="10069271" y="2419350"/>
              <a:chExt cx="1080000" cy="1296122"/>
            </a:xfrm>
          </p:grpSpPr>
          <p:pic>
            <p:nvPicPr>
              <p:cNvPr id="362" name="Рисунок 32">
                <a:extLst>
                  <a:ext uri="{FF2B5EF4-FFF2-40B4-BE49-F238E27FC236}">
                    <a16:creationId xmlns:a16="http://schemas.microsoft.com/office/drawing/2014/main" id="{ADB45AC7-C99F-FE1D-E9FB-60912365D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069271" y="2419350"/>
                <a:ext cx="1080000" cy="1079998"/>
              </a:xfrm>
              <a:prstGeom prst="rect">
                <a:avLst/>
              </a:prstGeom>
            </p:spPr>
          </p:pic>
          <p:sp>
            <p:nvSpPr>
              <p:cNvPr id="363" name="Прямоугольник 41">
                <a:extLst>
                  <a:ext uri="{FF2B5EF4-FFF2-40B4-BE49-F238E27FC236}">
                    <a16:creationId xmlns:a16="http://schemas.microsoft.com/office/drawing/2014/main" id="{2F98000D-FF90-1A5A-25C5-F7A0E3E01FDF}"/>
                  </a:ext>
                </a:extLst>
              </p:cNvPr>
              <p:cNvSpPr/>
              <p:nvPr/>
            </p:nvSpPr>
            <p:spPr>
              <a:xfrm>
                <a:off x="10353889" y="2853698"/>
                <a:ext cx="510765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:r>
                  <a:rPr lang="en-US" sz="14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9_waiting_time}</a:t>
                </a:r>
                <a:endPara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0FF99D6A-6434-6674-02E1-E3A3E415DAFD}"/>
                </a:ext>
              </a:extLst>
            </p:cNvPr>
            <p:cNvSpPr txBox="1"/>
            <p:nvPr/>
          </p:nvSpPr>
          <p:spPr>
            <a:xfrm>
              <a:off x="10002806" y="1971721"/>
              <a:ext cx="1161234" cy="523220"/>
            </a:xfrm>
            <a:prstGeom prst="rect">
              <a:avLst/>
            </a:prstGeom>
            <a:solidFill>
              <a:srgbClr val="F3ECE4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Gözləmə müddəti</a:t>
              </a:r>
            </a:p>
          </p:txBody>
        </p:sp>
        <p:grpSp>
          <p:nvGrpSpPr>
            <p:cNvPr id="357" name="Группа 10">
              <a:extLst>
                <a:ext uri="{FF2B5EF4-FFF2-40B4-BE49-F238E27FC236}">
                  <a16:creationId xmlns:a16="http://schemas.microsoft.com/office/drawing/2014/main" id="{D612A10A-B4C1-E7AD-CAD9-46DCD3134485}"/>
                </a:ext>
              </a:extLst>
            </p:cNvPr>
            <p:cNvGrpSpPr/>
            <p:nvPr/>
          </p:nvGrpSpPr>
          <p:grpSpPr>
            <a:xfrm>
              <a:off x="10043423" y="4519874"/>
              <a:ext cx="1080000" cy="1295092"/>
              <a:chOff x="9670362" y="4824022"/>
              <a:chExt cx="1080000" cy="1295092"/>
            </a:xfrm>
          </p:grpSpPr>
          <p:pic>
            <p:nvPicPr>
              <p:cNvPr id="360" name="Рисунок 41">
                <a:extLst>
                  <a:ext uri="{FF2B5EF4-FFF2-40B4-BE49-F238E27FC236}">
                    <a16:creationId xmlns:a16="http://schemas.microsoft.com/office/drawing/2014/main" id="{C3385C5A-15C5-6541-6C0F-08DA47233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670362" y="4824022"/>
                <a:ext cx="1080000" cy="1079998"/>
              </a:xfrm>
              <a:prstGeom prst="rect">
                <a:avLst/>
              </a:prstGeom>
            </p:spPr>
          </p:pic>
          <p:sp>
            <p:nvSpPr>
              <p:cNvPr id="361" name="Прямоугольник 41">
                <a:extLst>
                  <a:ext uri="{FF2B5EF4-FFF2-40B4-BE49-F238E27FC236}">
                    <a16:creationId xmlns:a16="http://schemas.microsoft.com/office/drawing/2014/main" id="{A17574F4-4413-9363-B972-DFE28F1F0FC5}"/>
                  </a:ext>
                </a:extLst>
              </p:cNvPr>
              <p:cNvSpPr/>
              <p:nvPr/>
            </p:nvSpPr>
            <p:spPr>
              <a:xfrm>
                <a:off x="9954980" y="5257340"/>
                <a:ext cx="510765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{9_service_time}</a:t>
                </a:r>
                <a:endPara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FC6BB5C7-AF24-8D45-0B15-E7AABE2F29F3}"/>
                </a:ext>
              </a:extLst>
            </p:cNvPr>
            <p:cNvSpPr txBox="1"/>
            <p:nvPr/>
          </p:nvSpPr>
          <p:spPr>
            <a:xfrm>
              <a:off x="10008098" y="1184818"/>
              <a:ext cx="1150650" cy="369332"/>
            </a:xfrm>
            <a:prstGeom prst="rect">
              <a:avLst/>
            </a:prstGeom>
            <a:solidFill>
              <a:srgbClr val="1E4B94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202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az-Latn-A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CE2BF50-A849-A626-9DB5-D32B2A16115E}"/>
                </a:ext>
              </a:extLst>
            </p:cNvPr>
            <p:cNvSpPr txBox="1"/>
            <p:nvPr/>
          </p:nvSpPr>
          <p:spPr>
            <a:xfrm>
              <a:off x="10002806" y="3884658"/>
              <a:ext cx="1161234" cy="5232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Xidmət müddəti</a:t>
              </a:r>
            </a:p>
          </p:txBody>
        </p:sp>
      </p:grpSp>
      <p:grpSp>
        <p:nvGrpSpPr>
          <p:cNvPr id="364" name="Группа 13">
            <a:extLst>
              <a:ext uri="{FF2B5EF4-FFF2-40B4-BE49-F238E27FC236}">
                <a16:creationId xmlns:a16="http://schemas.microsoft.com/office/drawing/2014/main" id="{636008AD-FAB8-6E42-9EB6-7D35B104D111}"/>
              </a:ext>
            </a:extLst>
          </p:cNvPr>
          <p:cNvGrpSpPr/>
          <p:nvPr/>
        </p:nvGrpSpPr>
        <p:grpSpPr>
          <a:xfrm>
            <a:off x="4539879" y="4787004"/>
            <a:ext cx="1355646" cy="757524"/>
            <a:chOff x="6342241" y="1343671"/>
            <a:chExt cx="1066970" cy="681979"/>
          </a:xfrm>
        </p:grpSpPr>
        <p:sp>
          <p:nvSpPr>
            <p:cNvPr id="365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B5FB89C3-0CAD-8F07-332F-FBA02E23CC75}"/>
                </a:ext>
              </a:extLst>
            </p:cNvPr>
            <p:cNvSpPr/>
            <p:nvPr/>
          </p:nvSpPr>
          <p:spPr>
            <a:xfrm>
              <a:off x="6421240" y="1343671"/>
              <a:ext cx="908972" cy="258659"/>
            </a:xfrm>
            <a:prstGeom prst="round2SameRect">
              <a:avLst>
                <a:gd name="adj1" fmla="val 47834"/>
                <a:gd name="adj2" fmla="val 0"/>
              </a:avLst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427F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2025-ci il</a:t>
              </a:r>
            </a:p>
          </p:txBody>
        </p:sp>
        <p:sp>
          <p:nvSpPr>
            <p:cNvPr id="366" name="Прямоугольник: скругленные углы 3">
              <a:extLst>
                <a:ext uri="{FF2B5EF4-FFF2-40B4-BE49-F238E27FC236}">
                  <a16:creationId xmlns:a16="http://schemas.microsoft.com/office/drawing/2014/main" id="{08C5B5B4-FA52-218F-430B-6D3C60CCB0E0}"/>
                </a:ext>
              </a:extLst>
            </p:cNvPr>
            <p:cNvSpPr/>
            <p:nvPr/>
          </p:nvSpPr>
          <p:spPr>
            <a:xfrm>
              <a:off x="6342241" y="1601740"/>
              <a:ext cx="1066970" cy="423910"/>
            </a:xfrm>
            <a:prstGeom prst="roundRect">
              <a:avLst>
                <a:gd name="adj" fmla="val 17756"/>
              </a:avLst>
            </a:prstGeom>
            <a:solidFill>
              <a:srgbClr val="90D6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lang="en-US" sz="2400" b="1" dirty="0">
                  <a:solidFill>
                    <a:srgbClr val="C40E6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{9_avg_dailyreqs}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7" name="Группа 13">
            <a:extLst>
              <a:ext uri="{FF2B5EF4-FFF2-40B4-BE49-F238E27FC236}">
                <a16:creationId xmlns:a16="http://schemas.microsoft.com/office/drawing/2014/main" id="{847A90D5-542E-5801-D74B-13DA624195E0}"/>
              </a:ext>
            </a:extLst>
          </p:cNvPr>
          <p:cNvGrpSpPr/>
          <p:nvPr/>
        </p:nvGrpSpPr>
        <p:grpSpPr>
          <a:xfrm>
            <a:off x="6886087" y="4787004"/>
            <a:ext cx="1098748" cy="757524"/>
            <a:chOff x="6342241" y="1343671"/>
            <a:chExt cx="864777" cy="681979"/>
          </a:xfrm>
        </p:grpSpPr>
        <p:sp>
          <p:nvSpPr>
            <p:cNvPr id="368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98C0F718-9FBE-7D0A-80B9-316CF12864AF}"/>
                </a:ext>
              </a:extLst>
            </p:cNvPr>
            <p:cNvSpPr/>
            <p:nvPr/>
          </p:nvSpPr>
          <p:spPr>
            <a:xfrm>
              <a:off x="6421241" y="1343671"/>
              <a:ext cx="700230" cy="258659"/>
            </a:xfrm>
            <a:prstGeom prst="round2SameRect">
              <a:avLst>
                <a:gd name="adj1" fmla="val 37059"/>
                <a:gd name="adj2" fmla="val 0"/>
              </a:avLst>
            </a:prstGeom>
            <a:solidFill>
              <a:srgbClr val="12B2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202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5</a:t>
              </a: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-c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i</a:t>
              </a: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 il</a:t>
              </a:r>
            </a:p>
          </p:txBody>
        </p:sp>
        <p:sp>
          <p:nvSpPr>
            <p:cNvPr id="369" name="Прямоугольник: скругленные углы 3">
              <a:extLst>
                <a:ext uri="{FF2B5EF4-FFF2-40B4-BE49-F238E27FC236}">
                  <a16:creationId xmlns:a16="http://schemas.microsoft.com/office/drawing/2014/main" id="{36702F61-F2E0-1327-A184-AF9EAAF0B1E0}"/>
                </a:ext>
              </a:extLst>
            </p:cNvPr>
            <p:cNvSpPr/>
            <p:nvPr/>
          </p:nvSpPr>
          <p:spPr>
            <a:xfrm>
              <a:off x="6342241" y="1601740"/>
              <a:ext cx="864777" cy="423910"/>
            </a:xfrm>
            <a:prstGeom prst="roundRect">
              <a:avLst>
                <a:gd name="adj" fmla="val 15733"/>
              </a:avLst>
            </a:prstGeom>
            <a:solidFill>
              <a:srgbClr val="B5E5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lang="en-US" sz="2400" b="1" dirty="0">
                  <a:solidFill>
                    <a:srgbClr val="C40E6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{9_sat_year}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0" name="Группа 13">
            <a:extLst>
              <a:ext uri="{FF2B5EF4-FFF2-40B4-BE49-F238E27FC236}">
                <a16:creationId xmlns:a16="http://schemas.microsoft.com/office/drawing/2014/main" id="{F57E0A45-6A95-1AA8-E89C-38FA826C5AE3}"/>
              </a:ext>
            </a:extLst>
          </p:cNvPr>
          <p:cNvGrpSpPr/>
          <p:nvPr/>
        </p:nvGrpSpPr>
        <p:grpSpPr>
          <a:xfrm>
            <a:off x="8145388" y="4787004"/>
            <a:ext cx="1098748" cy="757524"/>
            <a:chOff x="6342241" y="1343671"/>
            <a:chExt cx="864777" cy="681979"/>
          </a:xfrm>
        </p:grpSpPr>
        <p:sp>
          <p:nvSpPr>
            <p:cNvPr id="371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D498B7A5-A628-F118-3039-B536F66845F3}"/>
                </a:ext>
              </a:extLst>
            </p:cNvPr>
            <p:cNvSpPr/>
            <p:nvPr/>
          </p:nvSpPr>
          <p:spPr>
            <a:xfrm>
              <a:off x="6421241" y="1343671"/>
              <a:ext cx="700230" cy="258659"/>
            </a:xfrm>
            <a:prstGeom prst="round2SameRect">
              <a:avLst>
                <a:gd name="adj1" fmla="val 37059"/>
                <a:gd name="adj2" fmla="val 0"/>
              </a:avLst>
            </a:prstGeom>
            <a:solidFill>
              <a:srgbClr val="0C64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Kumulyativ</a:t>
              </a:r>
            </a:p>
          </p:txBody>
        </p:sp>
        <p:sp>
          <p:nvSpPr>
            <p:cNvPr id="372" name="Прямоугольник: скругленные углы 3">
              <a:extLst>
                <a:ext uri="{FF2B5EF4-FFF2-40B4-BE49-F238E27FC236}">
                  <a16:creationId xmlns:a16="http://schemas.microsoft.com/office/drawing/2014/main" id="{4752BDF9-691B-AD34-1032-E3C10E39187C}"/>
                </a:ext>
              </a:extLst>
            </p:cNvPr>
            <p:cNvSpPr/>
            <p:nvPr/>
          </p:nvSpPr>
          <p:spPr>
            <a:xfrm>
              <a:off x="6342241" y="1601740"/>
              <a:ext cx="864777" cy="423910"/>
            </a:xfrm>
            <a:prstGeom prst="roundRect">
              <a:avLst>
                <a:gd name="adj" fmla="val 15733"/>
              </a:avLst>
            </a:prstGeom>
            <a:solidFill>
              <a:srgbClr val="D6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lang="en-US" sz="2400" b="1" dirty="0">
                  <a:solidFill>
                    <a:srgbClr val="C40E6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{9_sat_total}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73" name="Speech Bubble: Rectangle with Corners Rounded 372">
            <a:extLst>
              <a:ext uri="{FF2B5EF4-FFF2-40B4-BE49-F238E27FC236}">
                <a16:creationId xmlns:a16="http://schemas.microsoft.com/office/drawing/2014/main" id="{32703304-546D-40D7-6130-9054C6D9DEBD}"/>
              </a:ext>
            </a:extLst>
          </p:cNvPr>
          <p:cNvSpPr/>
          <p:nvPr/>
        </p:nvSpPr>
        <p:spPr>
          <a:xfrm rot="5400000">
            <a:off x="7544496" y="2110852"/>
            <a:ext cx="1875515" cy="1822611"/>
          </a:xfrm>
          <a:prstGeom prst="wedgeRoundRectCallout">
            <a:avLst>
              <a:gd name="adj1" fmla="val 18627"/>
              <a:gd name="adj2" fmla="val 60698"/>
              <a:gd name="adj3" fmla="val 16667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74" name="slide_9_donut">
            <a:extLst>
              <a:ext uri="{FF2B5EF4-FFF2-40B4-BE49-F238E27FC236}">
                <a16:creationId xmlns:a16="http://schemas.microsoft.com/office/drawing/2014/main" id="{85CC22BA-CB5A-C4F4-6142-710EFDD67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961" y="2202655"/>
            <a:ext cx="1630006" cy="1630006"/>
          </a:xfrm>
          <a:prstGeom prst="rect">
            <a:avLst/>
          </a:prstGeom>
        </p:spPr>
      </p:pic>
      <p:sp>
        <p:nvSpPr>
          <p:cNvPr id="377" name="Прямоугольник 41">
            <a:extLst>
              <a:ext uri="{FF2B5EF4-FFF2-40B4-BE49-F238E27FC236}">
                <a16:creationId xmlns:a16="http://schemas.microsoft.com/office/drawing/2014/main" id="{6373BC69-4FDA-6958-2422-EEEA50C18DBD}"/>
              </a:ext>
            </a:extLst>
          </p:cNvPr>
          <p:cNvSpPr/>
          <p:nvPr/>
        </p:nvSpPr>
        <p:spPr>
          <a:xfrm>
            <a:off x="10575691" y="3023176"/>
            <a:ext cx="51076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endParaRPr kumimoji="0" lang="az-Latn-AZ" sz="1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8" name="Прямоугольник 41">
            <a:extLst>
              <a:ext uri="{FF2B5EF4-FFF2-40B4-BE49-F238E27FC236}">
                <a16:creationId xmlns:a16="http://schemas.microsoft.com/office/drawing/2014/main" id="{3EAB8E04-03F1-AA8C-641C-F34515F9B93D}"/>
              </a:ext>
            </a:extLst>
          </p:cNvPr>
          <p:cNvSpPr/>
          <p:nvPr/>
        </p:nvSpPr>
        <p:spPr>
          <a:xfrm>
            <a:off x="10575691" y="4934041"/>
            <a:ext cx="51076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endParaRPr kumimoji="0" lang="az-Latn-AZ" sz="1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23B07496-5A23-9B2D-C71F-52163C46DFE0}"/>
              </a:ext>
            </a:extLst>
          </p:cNvPr>
          <p:cNvSpPr txBox="1"/>
          <p:nvPr/>
        </p:nvSpPr>
        <p:spPr>
          <a:xfrm>
            <a:off x="7686683" y="5188549"/>
            <a:ext cx="336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%</a:t>
            </a:r>
            <a:endParaRPr lang="en-US" sz="1400" dirty="0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DDB8D0E1-5D1A-3B0A-5B86-D23C3109F8EB}"/>
              </a:ext>
            </a:extLst>
          </p:cNvPr>
          <p:cNvSpPr txBox="1"/>
          <p:nvPr/>
        </p:nvSpPr>
        <p:spPr>
          <a:xfrm>
            <a:off x="8949321" y="5188549"/>
            <a:ext cx="336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%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156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E96C-B6DF-3B9A-392F-D1D16B83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799B70F-FCD2-76FE-3DE0-48296E3460A1}"/>
              </a:ext>
            </a:extLst>
          </p:cNvPr>
          <p:cNvSpPr txBox="1"/>
          <p:nvPr/>
        </p:nvSpPr>
        <p:spPr>
          <a:xfrm rot="16200000">
            <a:off x="852078" y="5055760"/>
            <a:ext cx="1150650" cy="369332"/>
          </a:xfrm>
          <a:prstGeom prst="rect">
            <a:avLst/>
          </a:prstGeom>
          <a:solidFill>
            <a:srgbClr val="1E4B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2405D8-B518-5D59-7281-D8E33118875C}"/>
              </a:ext>
            </a:extLst>
          </p:cNvPr>
          <p:cNvSpPr txBox="1"/>
          <p:nvPr/>
        </p:nvSpPr>
        <p:spPr>
          <a:xfrm rot="16200000">
            <a:off x="3718773" y="5055759"/>
            <a:ext cx="1150650" cy="369332"/>
          </a:xfrm>
          <a:prstGeom prst="rect">
            <a:avLst/>
          </a:prstGeom>
          <a:solidFill>
            <a:srgbClr val="1E4B9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Прямоугольник 41">
            <a:extLst>
              <a:ext uri="{FF2B5EF4-FFF2-40B4-BE49-F238E27FC236}">
                <a16:creationId xmlns:a16="http://schemas.microsoft.com/office/drawing/2014/main" id="{D067EB37-84B2-7EE5-03E4-BEA0A16A6B97}"/>
              </a:ext>
            </a:extLst>
          </p:cNvPr>
          <p:cNvSpPr/>
          <p:nvPr/>
        </p:nvSpPr>
        <p:spPr>
          <a:xfrm>
            <a:off x="1832902" y="4962654"/>
            <a:ext cx="170417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3500" b="1" dirty="0">
                <a:solidFill>
                  <a:srgbClr val="1E4B9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{10_number_1}</a:t>
            </a:r>
            <a:endParaRPr lang="az-Latn-AZ" sz="2000" dirty="0">
              <a:solidFill>
                <a:srgbClr val="1E4B94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6" name="Прямоугольник 41">
            <a:extLst>
              <a:ext uri="{FF2B5EF4-FFF2-40B4-BE49-F238E27FC236}">
                <a16:creationId xmlns:a16="http://schemas.microsoft.com/office/drawing/2014/main" id="{3B044031-1D49-68DB-DE74-6618C4689B09}"/>
              </a:ext>
            </a:extLst>
          </p:cNvPr>
          <p:cNvSpPr/>
          <p:nvPr/>
        </p:nvSpPr>
        <p:spPr>
          <a:xfrm>
            <a:off x="4699598" y="4962654"/>
            <a:ext cx="170417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3500" b="1" dirty="0">
                <a:solidFill>
                  <a:srgbClr val="1E4B9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{10_number_2}</a:t>
            </a:r>
            <a:endParaRPr lang="az-Latn-AZ" sz="2000" dirty="0">
              <a:solidFill>
                <a:srgbClr val="1E4B94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63CF342-B990-665D-C586-95B013A109A0}"/>
              </a:ext>
            </a:extLst>
          </p:cNvPr>
          <p:cNvSpPr/>
          <p:nvPr/>
        </p:nvSpPr>
        <p:spPr>
          <a:xfrm>
            <a:off x="1034769" y="1283141"/>
            <a:ext cx="5349951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B1CECB-2014-FEB2-282F-AA355F83FA18}"/>
              </a:ext>
            </a:extLst>
          </p:cNvPr>
          <p:cNvSpPr txBox="1"/>
          <p:nvPr/>
        </p:nvSpPr>
        <p:spPr>
          <a:xfrm>
            <a:off x="1468861" y="1329567"/>
            <a:ext cx="448176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Birbaşa müraciətlərin istiqamətlərə görə paylanması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4250B86-7031-7271-A0A1-7ED123A0F256}"/>
              </a:ext>
            </a:extLst>
          </p:cNvPr>
          <p:cNvSpPr/>
          <p:nvPr/>
        </p:nvSpPr>
        <p:spPr>
          <a:xfrm>
            <a:off x="1104238" y="4197791"/>
            <a:ext cx="5280482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C46B1F-CE09-23FA-D6E4-14844CF1DB47}"/>
              </a:ext>
            </a:extLst>
          </p:cNvPr>
          <p:cNvSpPr txBox="1"/>
          <p:nvPr/>
        </p:nvSpPr>
        <p:spPr>
          <a:xfrm>
            <a:off x="1468861" y="4244217"/>
            <a:ext cx="448176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Müraciətlərin cavablandırılması</a:t>
            </a:r>
          </a:p>
        </p:txBody>
      </p:sp>
      <p:graphicFrame>
        <p:nvGraphicFramePr>
          <p:cNvPr id="41" name="Диаграмма 40">
            <a:extLst>
              <a:ext uri="{FF2B5EF4-FFF2-40B4-BE49-F238E27FC236}">
                <a16:creationId xmlns:a16="http://schemas.microsoft.com/office/drawing/2014/main" id="{CDDBD012-954F-F9E1-36B0-25C6F9C9437C}"/>
              </a:ext>
            </a:extLst>
          </p:cNvPr>
          <p:cNvGraphicFramePr/>
          <p:nvPr/>
        </p:nvGraphicFramePr>
        <p:xfrm>
          <a:off x="1034769" y="1719412"/>
          <a:ext cx="2237090" cy="230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7" name="Диаграмма 76">
            <a:extLst>
              <a:ext uri="{FF2B5EF4-FFF2-40B4-BE49-F238E27FC236}">
                <a16:creationId xmlns:a16="http://schemas.microsoft.com/office/drawing/2014/main" id="{2D2D411F-3FAD-E819-DB12-756399C5CE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009018"/>
              </p:ext>
            </p:extLst>
          </p:nvPr>
        </p:nvGraphicFramePr>
        <p:xfrm>
          <a:off x="3417364" y="1719412"/>
          <a:ext cx="2237090" cy="230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4" name="Диаграмма 93">
            <a:extLst>
              <a:ext uri="{FF2B5EF4-FFF2-40B4-BE49-F238E27FC236}">
                <a16:creationId xmlns:a16="http://schemas.microsoft.com/office/drawing/2014/main" id="{0578F349-E2BB-5283-B2C4-341528ED6652}"/>
              </a:ext>
            </a:extLst>
          </p:cNvPr>
          <p:cNvGraphicFramePr/>
          <p:nvPr/>
        </p:nvGraphicFramePr>
        <p:xfrm>
          <a:off x="5799959" y="1719412"/>
          <a:ext cx="2237090" cy="230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32C866-51BC-42E7-B494-0C6CDEFA5C98}"/>
              </a:ext>
            </a:extLst>
          </p:cNvPr>
          <p:cNvSpPr txBox="1"/>
          <p:nvPr/>
        </p:nvSpPr>
        <p:spPr>
          <a:xfrm rot="16200000">
            <a:off x="6233945" y="5049519"/>
            <a:ext cx="1150650" cy="381813"/>
          </a:xfrm>
          <a:prstGeom prst="rect">
            <a:avLst/>
          </a:prstGeom>
          <a:solidFill>
            <a:srgbClr val="1E4B94"/>
          </a:solidFill>
        </p:spPr>
        <p:txBody>
          <a:bodyPr wrap="square" tIns="72000" bIns="10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Kumulyativ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41">
            <a:extLst>
              <a:ext uri="{FF2B5EF4-FFF2-40B4-BE49-F238E27FC236}">
                <a16:creationId xmlns:a16="http://schemas.microsoft.com/office/drawing/2014/main" id="{1460B55A-F7B4-834D-C868-EC1A2848C1C6}"/>
              </a:ext>
            </a:extLst>
          </p:cNvPr>
          <p:cNvSpPr/>
          <p:nvPr/>
        </p:nvSpPr>
        <p:spPr>
          <a:xfrm>
            <a:off x="7214770" y="4962654"/>
            <a:ext cx="170417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3500" b="1" dirty="0">
                <a:solidFill>
                  <a:srgbClr val="1E4B9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{10_number_3}</a:t>
            </a:r>
            <a:endParaRPr lang="az-Latn-AZ" sz="2000" dirty="0">
              <a:solidFill>
                <a:srgbClr val="1E4B94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9" name="slide_10_donuts">
            <a:extLst>
              <a:ext uri="{FF2B5EF4-FFF2-40B4-BE49-F238E27FC236}">
                <a16:creationId xmlns:a16="http://schemas.microsoft.com/office/drawing/2014/main" id="{36721C26-FAD0-8E27-61EC-113767317D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9" y="1659317"/>
            <a:ext cx="9756876" cy="248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F2661F-97B2-C8F2-5632-F9F70509B8C6}"/>
              </a:ext>
            </a:extLst>
          </p:cNvPr>
          <p:cNvSpPr txBox="1"/>
          <p:nvPr/>
        </p:nvSpPr>
        <p:spPr>
          <a:xfrm>
            <a:off x="1157521" y="551143"/>
            <a:ext cx="646823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5BC04-E48A-EEBB-D5EC-BDF30B28833B}"/>
              </a:ext>
            </a:extLst>
          </p:cNvPr>
          <p:cNvSpPr txBox="1"/>
          <p:nvPr/>
        </p:nvSpPr>
        <p:spPr>
          <a:xfrm>
            <a:off x="4201064" y="557441"/>
            <a:ext cx="719342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{10_subtitle}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Прямоугольник 41">
            <a:extLst>
              <a:ext uri="{FF2B5EF4-FFF2-40B4-BE49-F238E27FC236}">
                <a16:creationId xmlns:a16="http://schemas.microsoft.com/office/drawing/2014/main" id="{EA46F188-9EED-1BE6-9161-387E0E15415D}"/>
              </a:ext>
            </a:extLst>
          </p:cNvPr>
          <p:cNvSpPr/>
          <p:nvPr/>
        </p:nvSpPr>
        <p:spPr>
          <a:xfrm>
            <a:off x="3232697" y="5086535"/>
            <a:ext cx="3693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B9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srgbClr val="1E4B94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Прямоугольник 41">
            <a:extLst>
              <a:ext uri="{FF2B5EF4-FFF2-40B4-BE49-F238E27FC236}">
                <a16:creationId xmlns:a16="http://schemas.microsoft.com/office/drawing/2014/main" id="{4C08EDE1-57AC-FF04-0740-3AABA7842672}"/>
              </a:ext>
            </a:extLst>
          </p:cNvPr>
          <p:cNvSpPr/>
          <p:nvPr/>
        </p:nvSpPr>
        <p:spPr>
          <a:xfrm>
            <a:off x="6066309" y="5093073"/>
            <a:ext cx="3693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B9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srgbClr val="1E4B94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Прямоугольник 41">
            <a:extLst>
              <a:ext uri="{FF2B5EF4-FFF2-40B4-BE49-F238E27FC236}">
                <a16:creationId xmlns:a16="http://schemas.microsoft.com/office/drawing/2014/main" id="{0B4BD10E-C50F-96E7-69C3-21D3981D3D41}"/>
              </a:ext>
            </a:extLst>
          </p:cNvPr>
          <p:cNvSpPr/>
          <p:nvPr/>
        </p:nvSpPr>
        <p:spPr>
          <a:xfrm>
            <a:off x="8575241" y="5099611"/>
            <a:ext cx="36933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B9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srgbClr val="1E4B94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446E-6C8F-ABB9-C664-C551681D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3F8407A-2EEC-0B88-3FFB-0BC002F93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97241" y="0"/>
            <a:ext cx="3994759" cy="37519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DD163F-4EC5-1510-FC31-F3EC52126C10}"/>
              </a:ext>
            </a:extLst>
          </p:cNvPr>
          <p:cNvSpPr txBox="1"/>
          <p:nvPr/>
        </p:nvSpPr>
        <p:spPr>
          <a:xfrm>
            <a:off x="1117034" y="558901"/>
            <a:ext cx="811426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Xidmətlərin təşkili istiqamətində görülmüş işlər</a:t>
            </a:r>
          </a:p>
        </p:txBody>
      </p:sp>
      <p:grpSp>
        <p:nvGrpSpPr>
          <p:cNvPr id="22" name="Группа 13">
            <a:extLst>
              <a:ext uri="{FF2B5EF4-FFF2-40B4-BE49-F238E27FC236}">
                <a16:creationId xmlns:a16="http://schemas.microsoft.com/office/drawing/2014/main" id="{4D7AF416-7E7F-4221-813F-5ADEA6B5A565}"/>
              </a:ext>
            </a:extLst>
          </p:cNvPr>
          <p:cNvGrpSpPr/>
          <p:nvPr/>
        </p:nvGrpSpPr>
        <p:grpSpPr>
          <a:xfrm>
            <a:off x="948233" y="1814279"/>
            <a:ext cx="4063714" cy="961802"/>
            <a:chOff x="1018010" y="1470408"/>
            <a:chExt cx="4063714" cy="96180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7C5819-3416-49E1-9006-8982E152904E}"/>
                </a:ext>
              </a:extLst>
            </p:cNvPr>
            <p:cNvSpPr txBox="1"/>
            <p:nvPr/>
          </p:nvSpPr>
          <p:spPr>
            <a:xfrm>
              <a:off x="1520280" y="1470408"/>
              <a:ext cx="3561444" cy="9618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İmtiyazlı şəxslərin sanatoriya-kurort yollayışları (putyovkaları) ilə təmin edilməsi xidməti üzrə əməliyyatların </a:t>
              </a:r>
              <a:r>
                <a:rPr kumimoji="0" lang="az-Latn-AZ" sz="12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avtomatlaşdırılması</a:t>
              </a: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və vahid platformadan idarə olunması təmin edilməsi </a:t>
              </a:r>
              <a:r>
                <a:rPr kumimoji="0" lang="az-Latn-AZ" sz="12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məqsədil</a:t>
              </a:r>
              <a:r>
                <a:rPr lang="az-Latn-AZ" sz="125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</a:t>
              </a: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“Sanatoriya-kurort” AS-</a:t>
              </a:r>
              <a:r>
                <a:rPr kumimoji="0" lang="az-Latn-AZ" sz="12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nin</a:t>
              </a: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yaradılması;</a:t>
              </a:r>
            </a:p>
          </p:txBody>
        </p:sp>
        <p:pic>
          <p:nvPicPr>
            <p:cNvPr id="24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C742566B-374A-445F-9DEA-EF459C2E4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grpSp>
        <p:nvGrpSpPr>
          <p:cNvPr id="29" name="Группа 13">
            <a:extLst>
              <a:ext uri="{FF2B5EF4-FFF2-40B4-BE49-F238E27FC236}">
                <a16:creationId xmlns:a16="http://schemas.microsoft.com/office/drawing/2014/main" id="{2C62A821-59EE-46E4-ADBD-D07D3F500B6E}"/>
              </a:ext>
            </a:extLst>
          </p:cNvPr>
          <p:cNvGrpSpPr/>
          <p:nvPr/>
        </p:nvGrpSpPr>
        <p:grpSpPr>
          <a:xfrm>
            <a:off x="5685676" y="1814279"/>
            <a:ext cx="4855803" cy="769441"/>
            <a:chOff x="1018010" y="1470408"/>
            <a:chExt cx="5023130" cy="76944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6D19B1F-2057-4267-9ACB-E4BC22EF8A30}"/>
                </a:ext>
              </a:extLst>
            </p:cNvPr>
            <p:cNvSpPr txBox="1"/>
            <p:nvPr/>
          </p:nvSpPr>
          <p:spPr>
            <a:xfrm>
              <a:off x="1520279" y="1470408"/>
              <a:ext cx="4520861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“DOST” mərkəzlərində xidmət istiqamətləri üzrə pəncərələrin düzgün bölgüsünün aparılması və optimallaşdırılması məqsədilə sosial xidmət, əlillik və övladlığa götürmə istiqamətləri üzrə xidmət pəncərələrinin birləşdirilməsi prosesinə </a:t>
              </a:r>
              <a:r>
                <a:rPr kumimoji="0" lang="az-Latn-AZ" sz="12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başlanılması</a:t>
              </a:r>
              <a:r>
                <a:rPr kumimoji="0" lang="az-Latn-AZ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;</a:t>
              </a:r>
            </a:p>
          </p:txBody>
        </p:sp>
        <p:pic>
          <p:nvPicPr>
            <p:cNvPr id="3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2CF10AC7-DC6E-4B1C-952F-7FB9AE8CF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010" y="1536902"/>
              <a:ext cx="337603" cy="324000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6E956BE-D6E2-A973-CA2B-4223C8B3F445}"/>
              </a:ext>
            </a:extLst>
          </p:cNvPr>
          <p:cNvGrpSpPr/>
          <p:nvPr/>
        </p:nvGrpSpPr>
        <p:grpSpPr>
          <a:xfrm>
            <a:off x="948233" y="3772892"/>
            <a:ext cx="5023131" cy="800219"/>
            <a:chOff x="1072869" y="2101858"/>
            <a:chExt cx="5023131" cy="80021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B6434E-2445-DA6D-5D5C-3E87C048508F}"/>
                </a:ext>
              </a:extLst>
            </p:cNvPr>
            <p:cNvSpPr txBox="1"/>
            <p:nvPr/>
          </p:nvSpPr>
          <p:spPr>
            <a:xfrm>
              <a:off x="1809816" y="2101858"/>
              <a:ext cx="4286184" cy="8002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Əmək münasibətləri istiqaməti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üzrə </a:t>
              </a:r>
              <a:b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B00C62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xidmətin hər biri inteqrasiya edilmiş, müraciətlərin qəbulunda DƏMX-in əməkdaşlarının iştirakı təmin edilmişdir.</a:t>
              </a:r>
            </a:p>
          </p:txBody>
        </p:sp>
        <p:pic>
          <p:nvPicPr>
            <p:cNvPr id="11" name="Рисунок 24">
              <a:extLst>
                <a:ext uri="{FF2B5EF4-FFF2-40B4-BE49-F238E27FC236}">
                  <a16:creationId xmlns:a16="http://schemas.microsoft.com/office/drawing/2014/main" id="{F17F577C-8669-D146-638A-B5F6AA25D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2869" y="2120908"/>
              <a:ext cx="601200" cy="755607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22A5067-3F5D-5B0B-D91B-3C0E76B56A66}"/>
              </a:ext>
            </a:extLst>
          </p:cNvPr>
          <p:cNvSpPr txBox="1"/>
          <p:nvPr/>
        </p:nvSpPr>
        <p:spPr>
          <a:xfrm>
            <a:off x="2334821" y="3200891"/>
            <a:ext cx="8849824" cy="376239"/>
          </a:xfrm>
          <a:prstGeom prst="rect">
            <a:avLst/>
          </a:prstGeom>
          <a:noFill/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DƏMX, DMA, SXA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DTSERA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üzrə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xidmətlərin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inteqrasiya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prosesi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0FB85089-4213-AD46-1489-0444D4B728D7}"/>
              </a:ext>
            </a:extLst>
          </p:cNvPr>
          <p:cNvGrpSpPr/>
          <p:nvPr/>
        </p:nvGrpSpPr>
        <p:grpSpPr>
          <a:xfrm>
            <a:off x="948233" y="4785353"/>
            <a:ext cx="5023131" cy="1000274"/>
            <a:chOff x="1072869" y="3199348"/>
            <a:chExt cx="5023131" cy="10002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6408C89-24CF-391A-B3E9-90317E41841E}"/>
                </a:ext>
              </a:extLst>
            </p:cNvPr>
            <p:cNvSpPr txBox="1"/>
            <p:nvPr/>
          </p:nvSpPr>
          <p:spPr>
            <a:xfrm>
              <a:off x="1809816" y="3199348"/>
              <a:ext cx="4286184" cy="10002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DMA.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Məşğulluq istiqaməti 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 </a:t>
              </a:r>
              <a:b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B00C62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15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xidmətin hər biri DOST Mərkəzləri tərəfindən göstərilir, həmçinin qeyd edilən xidmətlər “işsizlikdən sığorta ödənişinin təyin edilməsi” xidməti istisna olma</a:t>
              </a: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qla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Bakı RMF tərəfindən də vətəndaşlara təqdim olunur.</a:t>
              </a:r>
            </a:p>
          </p:txBody>
        </p:sp>
        <p:pic>
          <p:nvPicPr>
            <p:cNvPr id="8" name="Рисунок 24">
              <a:extLst>
                <a:ext uri="{FF2B5EF4-FFF2-40B4-BE49-F238E27FC236}">
                  <a16:creationId xmlns:a16="http://schemas.microsoft.com/office/drawing/2014/main" id="{5492C5DE-CA2E-93F6-1248-88262E633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2869" y="3248292"/>
              <a:ext cx="601200" cy="755606"/>
            </a:xfrm>
            <a:prstGeom prst="rect">
              <a:avLst/>
            </a:prstGeom>
          </p:spPr>
        </p:pic>
      </p:grpSp>
      <p:grpSp>
        <p:nvGrpSpPr>
          <p:cNvPr id="3" name="Группа 21">
            <a:extLst>
              <a:ext uri="{FF2B5EF4-FFF2-40B4-BE49-F238E27FC236}">
                <a16:creationId xmlns:a16="http://schemas.microsoft.com/office/drawing/2014/main" id="{6A9739B4-0510-24C8-5B08-BA16FF434DD1}"/>
              </a:ext>
            </a:extLst>
          </p:cNvPr>
          <p:cNvGrpSpPr/>
          <p:nvPr/>
        </p:nvGrpSpPr>
        <p:grpSpPr>
          <a:xfrm>
            <a:off x="6459134" y="4785353"/>
            <a:ext cx="4173079" cy="787601"/>
            <a:chOff x="1072869" y="4699102"/>
            <a:chExt cx="4173079" cy="78760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F3DFFE-2ABC-575F-6259-A47E6B5D3D82}"/>
                </a:ext>
              </a:extLst>
            </p:cNvPr>
            <p:cNvSpPr txBox="1"/>
            <p:nvPr/>
          </p:nvSpPr>
          <p:spPr>
            <a:xfrm>
              <a:off x="1809816" y="4699102"/>
              <a:ext cx="3436132" cy="6001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Əlillik istiqaməti 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 </a:t>
              </a: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B00C62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13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xidmətin hər biri DOST Mərkəzləri və hər bir DOST Mərkəzində yerləşən TSEK-lər tərəfindən göstərilir.</a:t>
              </a:r>
            </a:p>
          </p:txBody>
        </p:sp>
        <p:pic>
          <p:nvPicPr>
            <p:cNvPr id="18" name="Рисунок 24">
              <a:extLst>
                <a:ext uri="{FF2B5EF4-FFF2-40B4-BE49-F238E27FC236}">
                  <a16:creationId xmlns:a16="http://schemas.microsoft.com/office/drawing/2014/main" id="{A1AFDC17-76B3-442E-3D63-7A49080A7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2869" y="4731097"/>
              <a:ext cx="601199" cy="755606"/>
            </a:xfrm>
            <a:prstGeom prst="rect">
              <a:avLst/>
            </a:prstGeom>
          </p:spPr>
        </p:pic>
      </p:grpSp>
      <p:grpSp>
        <p:nvGrpSpPr>
          <p:cNvPr id="5" name="Группа 22">
            <a:extLst>
              <a:ext uri="{FF2B5EF4-FFF2-40B4-BE49-F238E27FC236}">
                <a16:creationId xmlns:a16="http://schemas.microsoft.com/office/drawing/2014/main" id="{5DF7295F-3C29-6D25-3575-0EFFD5A52CAE}"/>
              </a:ext>
            </a:extLst>
          </p:cNvPr>
          <p:cNvGrpSpPr/>
          <p:nvPr/>
        </p:nvGrpSpPr>
        <p:grpSpPr>
          <a:xfrm>
            <a:off x="6459134" y="3685820"/>
            <a:ext cx="5130583" cy="800219"/>
            <a:chOff x="5795400" y="2101858"/>
            <a:chExt cx="5130583" cy="80021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5082D1-4F65-A053-BEF4-4B3338E9A517}"/>
                </a:ext>
              </a:extLst>
            </p:cNvPr>
            <p:cNvSpPr txBox="1"/>
            <p:nvPr/>
          </p:nvSpPr>
          <p:spPr>
            <a:xfrm>
              <a:off x="6532403" y="2101858"/>
              <a:ext cx="4393580" cy="8002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Sosial xidmət, övladlığagötürmə, himayədar ailə və s. istiqamətlər 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 ümumilikdə </a:t>
              </a: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B00C62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21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B00C62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xidmətdən </a:t>
              </a: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xidmət tam, </a:t>
              </a: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xidmət qismən inteqrasiya edilmiş, </a:t>
              </a:r>
              <a:r>
                <a:rPr kumimoji="0" lang="az-Latn-AZ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  <a:r>
                <a:rPr kumimoji="0" lang="az-Latn-AZ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xidmət üzrə müraciət qəbulu elektronlaşdırılmışdır.  </a:t>
              </a:r>
            </a:p>
          </p:txBody>
        </p:sp>
        <p:pic>
          <p:nvPicPr>
            <p:cNvPr id="19" name="Рисунок 24">
              <a:extLst>
                <a:ext uri="{FF2B5EF4-FFF2-40B4-BE49-F238E27FC236}">
                  <a16:creationId xmlns:a16="http://schemas.microsoft.com/office/drawing/2014/main" id="{67EDCDFD-0053-BD59-E075-A78F3CB0A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95400" y="2120908"/>
              <a:ext cx="601200" cy="75560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59AB51-150B-3B2D-DA36-019544CC464E}"/>
              </a:ext>
            </a:extLst>
          </p:cNvPr>
          <p:cNvSpPr txBox="1"/>
          <p:nvPr/>
        </p:nvSpPr>
        <p:spPr>
          <a:xfrm>
            <a:off x="3677667" y="1176769"/>
            <a:ext cx="4519574" cy="376239"/>
          </a:xfrm>
          <a:prstGeom prst="rect">
            <a:avLst/>
          </a:prstGeom>
          <a:noFill/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Əsas istiqamətlər üzrə nəticə və göstəricilər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497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3FAF-E88F-7682-B21F-E805CE209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10">
            <a:extLst>
              <a:ext uri="{FF2B5EF4-FFF2-40B4-BE49-F238E27FC236}">
                <a16:creationId xmlns:a16="http://schemas.microsoft.com/office/drawing/2014/main" id="{628660D4-0591-EC1E-1135-CD0326CB958E}"/>
              </a:ext>
            </a:extLst>
          </p:cNvPr>
          <p:cNvGrpSpPr/>
          <p:nvPr/>
        </p:nvGrpSpPr>
        <p:grpSpPr>
          <a:xfrm>
            <a:off x="918849" y="4265452"/>
            <a:ext cx="4698204" cy="892552"/>
            <a:chOff x="882659" y="3226614"/>
            <a:chExt cx="3523653" cy="6694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D6D19E-44A6-D06D-E068-09FDBBB31856}"/>
                </a:ext>
              </a:extLst>
            </p:cNvPr>
            <p:cNvSpPr txBox="1"/>
            <p:nvPr/>
          </p:nvSpPr>
          <p:spPr>
            <a:xfrm>
              <a:off x="1314628" y="3226614"/>
              <a:ext cx="3091684" cy="6694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Vətəndaş müraciətlərinin araşdırılması 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04D7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6" name="Graphic 69">
              <a:extLst>
                <a:ext uri="{FF2B5EF4-FFF2-40B4-BE49-F238E27FC236}">
                  <a16:creationId xmlns:a16="http://schemas.microsoft.com/office/drawing/2014/main" id="{EB234FAE-9300-D06A-16C9-4CA337B10195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82659" y="3269405"/>
              <a:ext cx="280307" cy="280307"/>
            </a:xfrm>
            <a:prstGeom prst="rect">
              <a:avLst/>
            </a:prstGeom>
          </p:spPr>
        </p:pic>
      </p:grpSp>
      <p:grpSp>
        <p:nvGrpSpPr>
          <p:cNvPr id="7" name="Группа 11">
            <a:extLst>
              <a:ext uri="{FF2B5EF4-FFF2-40B4-BE49-F238E27FC236}">
                <a16:creationId xmlns:a16="http://schemas.microsoft.com/office/drawing/2014/main" id="{F6C8929B-AB42-CD8C-75A3-D2CE9A662A73}"/>
              </a:ext>
            </a:extLst>
          </p:cNvPr>
          <p:cNvGrpSpPr/>
          <p:nvPr/>
        </p:nvGrpSpPr>
        <p:grpSpPr>
          <a:xfrm>
            <a:off x="6685542" y="4322507"/>
            <a:ext cx="4768376" cy="892552"/>
            <a:chOff x="880918" y="3728330"/>
            <a:chExt cx="3576282" cy="66941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076007-641C-3ABA-47D8-879798550E7D}"/>
                </a:ext>
              </a:extLst>
            </p:cNvPr>
            <p:cNvSpPr txBox="1"/>
            <p:nvPr/>
          </p:nvSpPr>
          <p:spPr>
            <a:xfrm>
              <a:off x="1314627" y="3728330"/>
              <a:ext cx="3142573" cy="6694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DOST indeks: rüblük nəticələr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az-Latn-AZ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04D7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0" name="Graphic 69">
              <a:extLst>
                <a:ext uri="{FF2B5EF4-FFF2-40B4-BE49-F238E27FC236}">
                  <a16:creationId xmlns:a16="http://schemas.microsoft.com/office/drawing/2014/main" id="{C92943B4-E44B-B634-3B3A-6F35736EB81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0918" y="3771983"/>
              <a:ext cx="280307" cy="280307"/>
            </a:xfrm>
            <a:prstGeom prst="rect">
              <a:avLst/>
            </a:prstGeom>
          </p:spPr>
        </p:pic>
      </p:grpSp>
      <p:grpSp>
        <p:nvGrpSpPr>
          <p:cNvPr id="11" name="Группа 12">
            <a:extLst>
              <a:ext uri="{FF2B5EF4-FFF2-40B4-BE49-F238E27FC236}">
                <a16:creationId xmlns:a16="http://schemas.microsoft.com/office/drawing/2014/main" id="{05732AD4-0707-2694-5730-E8B1A8D836CB}"/>
              </a:ext>
            </a:extLst>
          </p:cNvPr>
          <p:cNvGrpSpPr/>
          <p:nvPr/>
        </p:nvGrpSpPr>
        <p:grpSpPr>
          <a:xfrm>
            <a:off x="6684285" y="2759585"/>
            <a:ext cx="4764897" cy="669415"/>
            <a:chOff x="883528" y="4269323"/>
            <a:chExt cx="3573672" cy="50206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4BFDA4-6EC9-8985-D973-120668DE554C}"/>
                </a:ext>
              </a:extLst>
            </p:cNvPr>
            <p:cNvSpPr txBox="1"/>
            <p:nvPr/>
          </p:nvSpPr>
          <p:spPr>
            <a:xfrm>
              <a:off x="1314628" y="4269323"/>
              <a:ext cx="3142572" cy="5020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İSO standartlarının tətbiqi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pic>
          <p:nvPicPr>
            <p:cNvPr id="13" name="Graphic 69">
              <a:extLst>
                <a:ext uri="{FF2B5EF4-FFF2-40B4-BE49-F238E27FC236}">
                  <a16:creationId xmlns:a16="http://schemas.microsoft.com/office/drawing/2014/main" id="{C572D7FD-30D9-309D-60B2-74CB53C8B285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3528" y="4274561"/>
              <a:ext cx="280307" cy="280307"/>
            </a:xfrm>
            <a:prstGeom prst="rect">
              <a:avLst/>
            </a:prstGeom>
          </p:spPr>
        </p:pic>
      </p:grpSp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444BA5AA-EF0E-BC68-C79D-C0B5C486DECC}"/>
              </a:ext>
            </a:extLst>
          </p:cNvPr>
          <p:cNvGrpSpPr/>
          <p:nvPr/>
        </p:nvGrpSpPr>
        <p:grpSpPr>
          <a:xfrm>
            <a:off x="918849" y="1536880"/>
            <a:ext cx="4179363" cy="669414"/>
            <a:chOff x="880919" y="2223179"/>
            <a:chExt cx="3134522" cy="50206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3267C7-37B5-8563-3492-F11BED7AD83E}"/>
                </a:ext>
              </a:extLst>
            </p:cNvPr>
            <p:cNvSpPr txBox="1"/>
            <p:nvPr/>
          </p:nvSpPr>
          <p:spPr>
            <a:xfrm>
              <a:off x="1314627" y="2223179"/>
              <a:ext cx="2700814" cy="5020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Xidmətlərin monitorinqi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 üzrə məzmun, nəticələr və göstəricilər burada qısa qeyd olunacaq. </a:t>
              </a:r>
              <a:endPara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04D7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Graphic 69">
              <a:extLst>
                <a:ext uri="{FF2B5EF4-FFF2-40B4-BE49-F238E27FC236}">
                  <a16:creationId xmlns:a16="http://schemas.microsoft.com/office/drawing/2014/main" id="{E767F38F-486F-0C23-BCAA-D0F82986DA3A}"/>
                </a:ext>
              </a:extLst>
            </p:cNvPr>
            <p:cNvSpPr/>
            <p:nvPr/>
          </p:nvSpPr>
          <p:spPr>
            <a:xfrm>
              <a:off x="880919" y="2264249"/>
              <a:ext cx="280307" cy="280307"/>
            </a:xfrm>
            <a:custGeom>
              <a:avLst/>
              <a:gdLst>
                <a:gd name="connsiteX0" fmla="*/ 140154 w 280307"/>
                <a:gd name="connsiteY0" fmla="*/ 0 h 280307"/>
                <a:gd name="connsiteX1" fmla="*/ 0 w 280307"/>
                <a:gd name="connsiteY1" fmla="*/ 140154 h 280307"/>
                <a:gd name="connsiteX2" fmla="*/ 140154 w 280307"/>
                <a:gd name="connsiteY2" fmla="*/ 280307 h 280307"/>
                <a:gd name="connsiteX3" fmla="*/ 280307 w 280307"/>
                <a:gd name="connsiteY3" fmla="*/ 140154 h 280307"/>
                <a:gd name="connsiteX4" fmla="*/ 140154 w 280307"/>
                <a:gd name="connsiteY4" fmla="*/ 0 h 280307"/>
                <a:gd name="connsiteX5" fmla="*/ 183449 w 280307"/>
                <a:gd name="connsiteY5" fmla="*/ 148411 h 280307"/>
                <a:gd name="connsiteX6" fmla="*/ 125052 w 280307"/>
                <a:gd name="connsiteY6" fmla="*/ 206808 h 280307"/>
                <a:gd name="connsiteX7" fmla="*/ 116794 w 280307"/>
                <a:gd name="connsiteY7" fmla="*/ 210230 h 280307"/>
                <a:gd name="connsiteX8" fmla="*/ 108537 w 280307"/>
                <a:gd name="connsiteY8" fmla="*/ 206808 h 280307"/>
                <a:gd name="connsiteX9" fmla="*/ 108537 w 280307"/>
                <a:gd name="connsiteY9" fmla="*/ 190293 h 280307"/>
                <a:gd name="connsiteX10" fmla="*/ 158677 w 280307"/>
                <a:gd name="connsiteY10" fmla="*/ 140154 h 280307"/>
                <a:gd name="connsiteX11" fmla="*/ 108537 w 280307"/>
                <a:gd name="connsiteY11" fmla="*/ 90014 h 280307"/>
                <a:gd name="connsiteX12" fmla="*/ 108537 w 280307"/>
                <a:gd name="connsiteY12" fmla="*/ 73499 h 280307"/>
                <a:gd name="connsiteX13" fmla="*/ 125052 w 280307"/>
                <a:gd name="connsiteY13" fmla="*/ 73499 h 280307"/>
                <a:gd name="connsiteX14" fmla="*/ 183449 w 280307"/>
                <a:gd name="connsiteY14" fmla="*/ 131896 h 280307"/>
                <a:gd name="connsiteX15" fmla="*/ 183449 w 280307"/>
                <a:gd name="connsiteY15" fmla="*/ 148411 h 280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0307" h="280307">
                  <a:moveTo>
                    <a:pt x="140154" y="0"/>
                  </a:moveTo>
                  <a:cubicBezTo>
                    <a:pt x="62870" y="0"/>
                    <a:pt x="0" y="62870"/>
                    <a:pt x="0" y="140154"/>
                  </a:cubicBezTo>
                  <a:cubicBezTo>
                    <a:pt x="0" y="217437"/>
                    <a:pt x="62870" y="280307"/>
                    <a:pt x="140154" y="280307"/>
                  </a:cubicBezTo>
                  <a:cubicBezTo>
                    <a:pt x="217437" y="280307"/>
                    <a:pt x="280307" y="217437"/>
                    <a:pt x="280307" y="140154"/>
                  </a:cubicBezTo>
                  <a:cubicBezTo>
                    <a:pt x="280307" y="62870"/>
                    <a:pt x="217437" y="0"/>
                    <a:pt x="140154" y="0"/>
                  </a:cubicBezTo>
                  <a:close/>
                  <a:moveTo>
                    <a:pt x="183449" y="148411"/>
                  </a:moveTo>
                  <a:lnTo>
                    <a:pt x="125052" y="206808"/>
                  </a:lnTo>
                  <a:cubicBezTo>
                    <a:pt x="122774" y="209085"/>
                    <a:pt x="119785" y="210230"/>
                    <a:pt x="116794" y="210230"/>
                  </a:cubicBezTo>
                  <a:cubicBezTo>
                    <a:pt x="113805" y="210230"/>
                    <a:pt x="110814" y="209085"/>
                    <a:pt x="108537" y="206808"/>
                  </a:cubicBezTo>
                  <a:cubicBezTo>
                    <a:pt x="103970" y="202242"/>
                    <a:pt x="103970" y="194860"/>
                    <a:pt x="108537" y="190293"/>
                  </a:cubicBezTo>
                  <a:lnTo>
                    <a:pt x="158677" y="140154"/>
                  </a:lnTo>
                  <a:lnTo>
                    <a:pt x="108537" y="90014"/>
                  </a:lnTo>
                  <a:cubicBezTo>
                    <a:pt x="103971" y="85447"/>
                    <a:pt x="103971" y="78066"/>
                    <a:pt x="108537" y="73499"/>
                  </a:cubicBezTo>
                  <a:cubicBezTo>
                    <a:pt x="113104" y="68933"/>
                    <a:pt x="120485" y="68933"/>
                    <a:pt x="125052" y="73499"/>
                  </a:cubicBezTo>
                  <a:lnTo>
                    <a:pt x="183449" y="131896"/>
                  </a:lnTo>
                  <a:cubicBezTo>
                    <a:pt x="188016" y="136463"/>
                    <a:pt x="188016" y="143844"/>
                    <a:pt x="183449" y="148411"/>
                  </a:cubicBezTo>
                  <a:close/>
                </a:path>
              </a:pathLst>
            </a:custGeom>
            <a:solidFill>
              <a:srgbClr val="6FBA68"/>
            </a:solidFill>
            <a:ln w="5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4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Группа 9">
            <a:extLst>
              <a:ext uri="{FF2B5EF4-FFF2-40B4-BE49-F238E27FC236}">
                <a16:creationId xmlns:a16="http://schemas.microsoft.com/office/drawing/2014/main" id="{0DE29F32-A5DA-3AE3-E835-BBF49934AA71}"/>
              </a:ext>
            </a:extLst>
          </p:cNvPr>
          <p:cNvGrpSpPr/>
          <p:nvPr/>
        </p:nvGrpSpPr>
        <p:grpSpPr>
          <a:xfrm>
            <a:off x="6684285" y="1443804"/>
            <a:ext cx="4693958" cy="669414"/>
            <a:chOff x="881789" y="2724896"/>
            <a:chExt cx="3520468" cy="50206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88D9C4-074B-74A0-6313-8773A9C354A5}"/>
                </a:ext>
              </a:extLst>
            </p:cNvPr>
            <p:cNvSpPr txBox="1"/>
            <p:nvPr/>
          </p:nvSpPr>
          <p:spPr>
            <a:xfrm>
              <a:off x="1314627" y="2724896"/>
              <a:ext cx="3087630" cy="5020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SƏTƏM istiqaməti üzrə görülmüş işlər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sp>
          <p:nvSpPr>
            <p:cNvPr id="19" name="Graphic 69">
              <a:extLst>
                <a:ext uri="{FF2B5EF4-FFF2-40B4-BE49-F238E27FC236}">
                  <a16:creationId xmlns:a16="http://schemas.microsoft.com/office/drawing/2014/main" id="{63A833E8-2911-FDF2-2BCB-A511DEFE9490}"/>
                </a:ext>
              </a:extLst>
            </p:cNvPr>
            <p:cNvSpPr/>
            <p:nvPr/>
          </p:nvSpPr>
          <p:spPr>
            <a:xfrm>
              <a:off x="881789" y="2766827"/>
              <a:ext cx="280307" cy="280307"/>
            </a:xfrm>
            <a:custGeom>
              <a:avLst/>
              <a:gdLst>
                <a:gd name="connsiteX0" fmla="*/ 140154 w 280307"/>
                <a:gd name="connsiteY0" fmla="*/ 0 h 280307"/>
                <a:gd name="connsiteX1" fmla="*/ 0 w 280307"/>
                <a:gd name="connsiteY1" fmla="*/ 140154 h 280307"/>
                <a:gd name="connsiteX2" fmla="*/ 140154 w 280307"/>
                <a:gd name="connsiteY2" fmla="*/ 280307 h 280307"/>
                <a:gd name="connsiteX3" fmla="*/ 280307 w 280307"/>
                <a:gd name="connsiteY3" fmla="*/ 140154 h 280307"/>
                <a:gd name="connsiteX4" fmla="*/ 140154 w 280307"/>
                <a:gd name="connsiteY4" fmla="*/ 0 h 280307"/>
                <a:gd name="connsiteX5" fmla="*/ 183449 w 280307"/>
                <a:gd name="connsiteY5" fmla="*/ 148411 h 280307"/>
                <a:gd name="connsiteX6" fmla="*/ 125052 w 280307"/>
                <a:gd name="connsiteY6" fmla="*/ 206808 h 280307"/>
                <a:gd name="connsiteX7" fmla="*/ 116794 w 280307"/>
                <a:gd name="connsiteY7" fmla="*/ 210230 h 280307"/>
                <a:gd name="connsiteX8" fmla="*/ 108537 w 280307"/>
                <a:gd name="connsiteY8" fmla="*/ 206808 h 280307"/>
                <a:gd name="connsiteX9" fmla="*/ 108537 w 280307"/>
                <a:gd name="connsiteY9" fmla="*/ 190293 h 280307"/>
                <a:gd name="connsiteX10" fmla="*/ 158677 w 280307"/>
                <a:gd name="connsiteY10" fmla="*/ 140154 h 280307"/>
                <a:gd name="connsiteX11" fmla="*/ 108537 w 280307"/>
                <a:gd name="connsiteY11" fmla="*/ 90014 h 280307"/>
                <a:gd name="connsiteX12" fmla="*/ 108537 w 280307"/>
                <a:gd name="connsiteY12" fmla="*/ 73499 h 280307"/>
                <a:gd name="connsiteX13" fmla="*/ 125052 w 280307"/>
                <a:gd name="connsiteY13" fmla="*/ 73499 h 280307"/>
                <a:gd name="connsiteX14" fmla="*/ 183449 w 280307"/>
                <a:gd name="connsiteY14" fmla="*/ 131896 h 280307"/>
                <a:gd name="connsiteX15" fmla="*/ 183449 w 280307"/>
                <a:gd name="connsiteY15" fmla="*/ 148411 h 280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0307" h="280307">
                  <a:moveTo>
                    <a:pt x="140154" y="0"/>
                  </a:moveTo>
                  <a:cubicBezTo>
                    <a:pt x="62870" y="0"/>
                    <a:pt x="0" y="62870"/>
                    <a:pt x="0" y="140154"/>
                  </a:cubicBezTo>
                  <a:cubicBezTo>
                    <a:pt x="0" y="217437"/>
                    <a:pt x="62870" y="280307"/>
                    <a:pt x="140154" y="280307"/>
                  </a:cubicBezTo>
                  <a:cubicBezTo>
                    <a:pt x="217437" y="280307"/>
                    <a:pt x="280307" y="217437"/>
                    <a:pt x="280307" y="140154"/>
                  </a:cubicBezTo>
                  <a:cubicBezTo>
                    <a:pt x="280307" y="62870"/>
                    <a:pt x="217437" y="0"/>
                    <a:pt x="140154" y="0"/>
                  </a:cubicBezTo>
                  <a:close/>
                  <a:moveTo>
                    <a:pt x="183449" y="148411"/>
                  </a:moveTo>
                  <a:lnTo>
                    <a:pt x="125052" y="206808"/>
                  </a:lnTo>
                  <a:cubicBezTo>
                    <a:pt x="122774" y="209085"/>
                    <a:pt x="119785" y="210230"/>
                    <a:pt x="116794" y="210230"/>
                  </a:cubicBezTo>
                  <a:cubicBezTo>
                    <a:pt x="113805" y="210230"/>
                    <a:pt x="110814" y="209085"/>
                    <a:pt x="108537" y="206808"/>
                  </a:cubicBezTo>
                  <a:cubicBezTo>
                    <a:pt x="103970" y="202242"/>
                    <a:pt x="103970" y="194860"/>
                    <a:pt x="108537" y="190293"/>
                  </a:cubicBezTo>
                  <a:lnTo>
                    <a:pt x="158677" y="140154"/>
                  </a:lnTo>
                  <a:lnTo>
                    <a:pt x="108537" y="90014"/>
                  </a:lnTo>
                  <a:cubicBezTo>
                    <a:pt x="103971" y="85447"/>
                    <a:pt x="103971" y="78066"/>
                    <a:pt x="108537" y="73499"/>
                  </a:cubicBezTo>
                  <a:cubicBezTo>
                    <a:pt x="113104" y="68933"/>
                    <a:pt x="120485" y="68933"/>
                    <a:pt x="125052" y="73499"/>
                  </a:cubicBezTo>
                  <a:lnTo>
                    <a:pt x="183449" y="131896"/>
                  </a:lnTo>
                  <a:cubicBezTo>
                    <a:pt x="188016" y="136463"/>
                    <a:pt x="188016" y="143844"/>
                    <a:pt x="183449" y="148411"/>
                  </a:cubicBezTo>
                  <a:close/>
                </a:path>
              </a:pathLst>
            </a:custGeom>
            <a:solidFill>
              <a:srgbClr val="6DBA98"/>
            </a:solidFill>
            <a:ln w="5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4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A0CFC36-9141-8E3F-9E23-E6DDF4082990}"/>
              </a:ext>
            </a:extLst>
          </p:cNvPr>
          <p:cNvSpPr txBox="1"/>
          <p:nvPr/>
        </p:nvSpPr>
        <p:spPr>
          <a:xfrm>
            <a:off x="1185011" y="566623"/>
            <a:ext cx="104692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Xidmət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keyfiyyətinin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təmin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edilməsi</a:t>
            </a: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və risklərin qiymətləndirilməsi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Группа 9">
            <a:extLst>
              <a:ext uri="{FF2B5EF4-FFF2-40B4-BE49-F238E27FC236}">
                <a16:creationId xmlns:a16="http://schemas.microsoft.com/office/drawing/2014/main" id="{AB99344B-2AE3-6CF5-C493-8F7672BB2402}"/>
              </a:ext>
            </a:extLst>
          </p:cNvPr>
          <p:cNvGrpSpPr/>
          <p:nvPr/>
        </p:nvGrpSpPr>
        <p:grpSpPr>
          <a:xfrm>
            <a:off x="918849" y="2806236"/>
            <a:ext cx="4767217" cy="669414"/>
            <a:chOff x="881789" y="2724896"/>
            <a:chExt cx="3575413" cy="5020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E3CA68-313D-3DA2-9F60-DD21310C609B}"/>
                </a:ext>
              </a:extLst>
            </p:cNvPr>
            <p:cNvSpPr txBox="1"/>
            <p:nvPr/>
          </p:nvSpPr>
          <p:spPr>
            <a:xfrm>
              <a:off x="1314628" y="2724896"/>
              <a:ext cx="3142574" cy="5020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50" b="1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Risklərin idarə olunması və daxili audit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Bölmə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üzrə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məzmun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nəticələr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göstəricilər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burada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qısa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qeyd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14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olunacaq</a:t>
              </a:r>
              <a:r>
                <a:rPr kumimoji="0" lang="en-US" sz="1450" b="0" i="0" u="none" strike="noStrike" kern="1200" cap="none" spc="0" normalizeH="0" baseline="0" noProof="0" dirty="0">
                  <a:ln>
                    <a:noFill/>
                  </a:ln>
                  <a:solidFill>
                    <a:srgbClr val="104D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</a:p>
          </p:txBody>
        </p:sp>
        <p:sp>
          <p:nvSpPr>
            <p:cNvPr id="22" name="Graphic 69">
              <a:extLst>
                <a:ext uri="{FF2B5EF4-FFF2-40B4-BE49-F238E27FC236}">
                  <a16:creationId xmlns:a16="http://schemas.microsoft.com/office/drawing/2014/main" id="{879CE896-EFF4-E307-E08E-18304456DB78}"/>
                </a:ext>
              </a:extLst>
            </p:cNvPr>
            <p:cNvSpPr/>
            <p:nvPr/>
          </p:nvSpPr>
          <p:spPr>
            <a:xfrm>
              <a:off x="881789" y="2766827"/>
              <a:ext cx="280307" cy="280307"/>
            </a:xfrm>
            <a:custGeom>
              <a:avLst/>
              <a:gdLst>
                <a:gd name="connsiteX0" fmla="*/ 140154 w 280307"/>
                <a:gd name="connsiteY0" fmla="*/ 0 h 280307"/>
                <a:gd name="connsiteX1" fmla="*/ 0 w 280307"/>
                <a:gd name="connsiteY1" fmla="*/ 140154 h 280307"/>
                <a:gd name="connsiteX2" fmla="*/ 140154 w 280307"/>
                <a:gd name="connsiteY2" fmla="*/ 280307 h 280307"/>
                <a:gd name="connsiteX3" fmla="*/ 280307 w 280307"/>
                <a:gd name="connsiteY3" fmla="*/ 140154 h 280307"/>
                <a:gd name="connsiteX4" fmla="*/ 140154 w 280307"/>
                <a:gd name="connsiteY4" fmla="*/ 0 h 280307"/>
                <a:gd name="connsiteX5" fmla="*/ 183449 w 280307"/>
                <a:gd name="connsiteY5" fmla="*/ 148411 h 280307"/>
                <a:gd name="connsiteX6" fmla="*/ 125052 w 280307"/>
                <a:gd name="connsiteY6" fmla="*/ 206808 h 280307"/>
                <a:gd name="connsiteX7" fmla="*/ 116794 w 280307"/>
                <a:gd name="connsiteY7" fmla="*/ 210230 h 280307"/>
                <a:gd name="connsiteX8" fmla="*/ 108537 w 280307"/>
                <a:gd name="connsiteY8" fmla="*/ 206808 h 280307"/>
                <a:gd name="connsiteX9" fmla="*/ 108537 w 280307"/>
                <a:gd name="connsiteY9" fmla="*/ 190293 h 280307"/>
                <a:gd name="connsiteX10" fmla="*/ 158677 w 280307"/>
                <a:gd name="connsiteY10" fmla="*/ 140154 h 280307"/>
                <a:gd name="connsiteX11" fmla="*/ 108537 w 280307"/>
                <a:gd name="connsiteY11" fmla="*/ 90014 h 280307"/>
                <a:gd name="connsiteX12" fmla="*/ 108537 w 280307"/>
                <a:gd name="connsiteY12" fmla="*/ 73499 h 280307"/>
                <a:gd name="connsiteX13" fmla="*/ 125052 w 280307"/>
                <a:gd name="connsiteY13" fmla="*/ 73499 h 280307"/>
                <a:gd name="connsiteX14" fmla="*/ 183449 w 280307"/>
                <a:gd name="connsiteY14" fmla="*/ 131896 h 280307"/>
                <a:gd name="connsiteX15" fmla="*/ 183449 w 280307"/>
                <a:gd name="connsiteY15" fmla="*/ 148411 h 280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0307" h="280307">
                  <a:moveTo>
                    <a:pt x="140154" y="0"/>
                  </a:moveTo>
                  <a:cubicBezTo>
                    <a:pt x="62870" y="0"/>
                    <a:pt x="0" y="62870"/>
                    <a:pt x="0" y="140154"/>
                  </a:cubicBezTo>
                  <a:cubicBezTo>
                    <a:pt x="0" y="217437"/>
                    <a:pt x="62870" y="280307"/>
                    <a:pt x="140154" y="280307"/>
                  </a:cubicBezTo>
                  <a:cubicBezTo>
                    <a:pt x="217437" y="280307"/>
                    <a:pt x="280307" y="217437"/>
                    <a:pt x="280307" y="140154"/>
                  </a:cubicBezTo>
                  <a:cubicBezTo>
                    <a:pt x="280307" y="62870"/>
                    <a:pt x="217437" y="0"/>
                    <a:pt x="140154" y="0"/>
                  </a:cubicBezTo>
                  <a:close/>
                  <a:moveTo>
                    <a:pt x="183449" y="148411"/>
                  </a:moveTo>
                  <a:lnTo>
                    <a:pt x="125052" y="206808"/>
                  </a:lnTo>
                  <a:cubicBezTo>
                    <a:pt x="122774" y="209085"/>
                    <a:pt x="119785" y="210230"/>
                    <a:pt x="116794" y="210230"/>
                  </a:cubicBezTo>
                  <a:cubicBezTo>
                    <a:pt x="113805" y="210230"/>
                    <a:pt x="110814" y="209085"/>
                    <a:pt x="108537" y="206808"/>
                  </a:cubicBezTo>
                  <a:cubicBezTo>
                    <a:pt x="103970" y="202242"/>
                    <a:pt x="103970" y="194860"/>
                    <a:pt x="108537" y="190293"/>
                  </a:cubicBezTo>
                  <a:lnTo>
                    <a:pt x="158677" y="140154"/>
                  </a:lnTo>
                  <a:lnTo>
                    <a:pt x="108537" y="90014"/>
                  </a:lnTo>
                  <a:cubicBezTo>
                    <a:pt x="103971" y="85447"/>
                    <a:pt x="103971" y="78066"/>
                    <a:pt x="108537" y="73499"/>
                  </a:cubicBezTo>
                  <a:cubicBezTo>
                    <a:pt x="113104" y="68933"/>
                    <a:pt x="120485" y="68933"/>
                    <a:pt x="125052" y="73499"/>
                  </a:cubicBezTo>
                  <a:lnTo>
                    <a:pt x="183449" y="131896"/>
                  </a:lnTo>
                  <a:cubicBezTo>
                    <a:pt x="188016" y="136463"/>
                    <a:pt x="188016" y="143844"/>
                    <a:pt x="183449" y="148411"/>
                  </a:cubicBezTo>
                  <a:close/>
                </a:path>
              </a:pathLst>
            </a:custGeom>
            <a:solidFill>
              <a:srgbClr val="6DBA98"/>
            </a:solidFill>
            <a:ln w="5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4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400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5292-C955-C9F5-5DD5-0D776108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Группа 1">
            <a:extLst>
              <a:ext uri="{FF2B5EF4-FFF2-40B4-BE49-F238E27FC236}">
                <a16:creationId xmlns:a16="http://schemas.microsoft.com/office/drawing/2014/main" id="{1F374B9F-6D44-F2FC-C185-FEDA7C4F61CC}"/>
              </a:ext>
            </a:extLst>
          </p:cNvPr>
          <p:cNvGrpSpPr/>
          <p:nvPr/>
        </p:nvGrpSpPr>
        <p:grpSpPr>
          <a:xfrm>
            <a:off x="5184014" y="2000141"/>
            <a:ext cx="2511930" cy="2358687"/>
            <a:chOff x="4497651" y="3106868"/>
            <a:chExt cx="2511930" cy="2358687"/>
          </a:xfrm>
        </p:grpSpPr>
        <p:grpSp>
          <p:nvGrpSpPr>
            <p:cNvPr id="100" name="Группа 4">
              <a:extLst>
                <a:ext uri="{FF2B5EF4-FFF2-40B4-BE49-F238E27FC236}">
                  <a16:creationId xmlns:a16="http://schemas.microsoft.com/office/drawing/2014/main" id="{C21658C5-D7F4-FB5E-9F9B-AA26BB41C330}"/>
                </a:ext>
              </a:extLst>
            </p:cNvPr>
            <p:cNvGrpSpPr/>
            <p:nvPr/>
          </p:nvGrpSpPr>
          <p:grpSpPr>
            <a:xfrm>
              <a:off x="4497651" y="3720813"/>
              <a:ext cx="2319642" cy="1744742"/>
              <a:chOff x="4464787" y="3028566"/>
              <a:chExt cx="2581988" cy="1942070"/>
            </a:xfrm>
          </p:grpSpPr>
          <p:pic>
            <p:nvPicPr>
              <p:cNvPr id="105" name="Рисунок 34">
                <a:extLst>
                  <a:ext uri="{FF2B5EF4-FFF2-40B4-BE49-F238E27FC236}">
                    <a16:creationId xmlns:a16="http://schemas.microsoft.com/office/drawing/2014/main" id="{5F65F0AA-EE6D-C970-934C-19A3143CD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464787" y="3028566"/>
                <a:ext cx="2581988" cy="1346227"/>
              </a:xfrm>
              <a:prstGeom prst="rect">
                <a:avLst/>
              </a:prstGeom>
            </p:spPr>
          </p:pic>
          <p:sp>
            <p:nvSpPr>
              <p:cNvPr id="106" name="Прямоугольник 41">
                <a:extLst>
                  <a:ext uri="{FF2B5EF4-FFF2-40B4-BE49-F238E27FC236}">
                    <a16:creationId xmlns:a16="http://schemas.microsoft.com/office/drawing/2014/main" id="{F5E4705C-2EA8-9426-8C75-7D0DB3492F48}"/>
                  </a:ext>
                </a:extLst>
              </p:cNvPr>
              <p:cNvSpPr/>
              <p:nvPr/>
            </p:nvSpPr>
            <p:spPr>
              <a:xfrm>
                <a:off x="4912522" y="3799083"/>
                <a:ext cx="461960" cy="82220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solidFill>
                      <a:srgbClr val="0C64B4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{13_kisi}</a:t>
                </a:r>
                <a:endPara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C64B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7" name="Прямоугольник 41">
                <a:extLst>
                  <a:ext uri="{FF2B5EF4-FFF2-40B4-BE49-F238E27FC236}">
                    <a16:creationId xmlns:a16="http://schemas.microsoft.com/office/drawing/2014/main" id="{0DE9521A-4B72-2CDC-B416-C0B3E18BE4EB}"/>
                  </a:ext>
                </a:extLst>
              </p:cNvPr>
              <p:cNvSpPr/>
              <p:nvPr/>
            </p:nvSpPr>
            <p:spPr>
              <a:xfrm>
                <a:off x="6124575" y="3799083"/>
                <a:ext cx="461960" cy="10962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0F7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{13_qadin}</a:t>
                </a:r>
                <a:endPara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80F79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8" name="Прямоугольник 41">
                <a:extLst>
                  <a:ext uri="{FF2B5EF4-FFF2-40B4-BE49-F238E27FC236}">
                    <a16:creationId xmlns:a16="http://schemas.microsoft.com/office/drawing/2014/main" id="{745BD034-EA5A-C046-9CD5-BE438AA80411}"/>
                  </a:ext>
                </a:extLst>
              </p:cNvPr>
              <p:cNvSpPr/>
              <p:nvPr/>
            </p:nvSpPr>
            <p:spPr>
              <a:xfrm>
                <a:off x="5524801" y="3429000"/>
                <a:ext cx="461960" cy="15416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B26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{13_ortayas}</a:t>
                </a:r>
                <a:endPara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2B269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9" name="Прямоугольник 41">
                <a:extLst>
                  <a:ext uri="{FF2B5EF4-FFF2-40B4-BE49-F238E27FC236}">
                    <a16:creationId xmlns:a16="http://schemas.microsoft.com/office/drawing/2014/main" id="{42B948D7-6133-3377-3FC5-EC9C036E8545}"/>
                  </a:ext>
                </a:extLst>
              </p:cNvPr>
              <p:cNvSpPr/>
              <p:nvPr/>
            </p:nvSpPr>
            <p:spPr>
              <a:xfrm>
                <a:off x="5248936" y="3842489"/>
                <a:ext cx="461960" cy="20555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C64B4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</a:p>
            </p:txBody>
          </p:sp>
          <p:sp>
            <p:nvSpPr>
              <p:cNvPr id="110" name="Прямоугольник 41">
                <a:extLst>
                  <a:ext uri="{FF2B5EF4-FFF2-40B4-BE49-F238E27FC236}">
                    <a16:creationId xmlns:a16="http://schemas.microsoft.com/office/drawing/2014/main" id="{AAB4129F-1BEA-8A34-191E-888994411DBB}"/>
                  </a:ext>
                </a:extLst>
              </p:cNvPr>
              <p:cNvSpPr/>
              <p:nvPr/>
            </p:nvSpPr>
            <p:spPr>
              <a:xfrm>
                <a:off x="6467247" y="3832869"/>
                <a:ext cx="461960" cy="20555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0F7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101" name="Прямоугольник 5">
              <a:extLst>
                <a:ext uri="{FF2B5EF4-FFF2-40B4-BE49-F238E27FC236}">
                  <a16:creationId xmlns:a16="http://schemas.microsoft.com/office/drawing/2014/main" id="{83AB5045-A01A-9AD2-0927-2C45C6857DF2}"/>
                </a:ext>
              </a:extLst>
            </p:cNvPr>
            <p:cNvSpPr/>
            <p:nvPr/>
          </p:nvSpPr>
          <p:spPr>
            <a:xfrm>
              <a:off x="4497651" y="3106868"/>
              <a:ext cx="2511930" cy="369333"/>
            </a:xfrm>
            <a:prstGeom prst="rect">
              <a:avLst/>
            </a:prstGeom>
            <a:solidFill>
              <a:srgbClr val="0C64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Группа 31">
              <a:extLst>
                <a:ext uri="{FF2B5EF4-FFF2-40B4-BE49-F238E27FC236}">
                  <a16:creationId xmlns:a16="http://schemas.microsoft.com/office/drawing/2014/main" id="{152CA7F4-1815-3F73-19E6-2F7BDF1E0F70}"/>
                </a:ext>
              </a:extLst>
            </p:cNvPr>
            <p:cNvGrpSpPr/>
            <p:nvPr/>
          </p:nvGrpSpPr>
          <p:grpSpPr>
            <a:xfrm>
              <a:off x="4713426" y="3122257"/>
              <a:ext cx="1954342" cy="1015663"/>
              <a:chOff x="1174869" y="4089197"/>
              <a:chExt cx="1954342" cy="1015663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DCDC697-4C52-4637-2A6B-84B6E01CB665}"/>
                  </a:ext>
                </a:extLst>
              </p:cNvPr>
              <p:cNvSpPr txBox="1"/>
              <p:nvPr/>
            </p:nvSpPr>
            <p:spPr>
              <a:xfrm>
                <a:off x="2449520" y="4089197"/>
                <a:ext cx="679691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E9F5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{13_umimi}</a:t>
                </a:r>
                <a:endParaRPr kumimoji="0" lang="az-Latn-AZ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D0E9F5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D8C6680-0BF4-35B9-4B00-1BB9A6EF49D0}"/>
                  </a:ext>
                </a:extLst>
              </p:cNvPr>
              <p:cNvSpPr txBox="1"/>
              <p:nvPr/>
            </p:nvSpPr>
            <p:spPr>
              <a:xfrm>
                <a:off x="1174869" y="4143058"/>
                <a:ext cx="1205922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Ümumi say</a:t>
                </a: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0D9EB7CD-6CBE-8074-EE8D-11643C5402C2}"/>
              </a:ext>
            </a:extLst>
          </p:cNvPr>
          <p:cNvSpPr txBox="1"/>
          <p:nvPr/>
        </p:nvSpPr>
        <p:spPr>
          <a:xfrm>
            <a:off x="8016969" y="1219900"/>
            <a:ext cx="3455998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Beynəlxalq sertifikat almış əməkdaş sayı</a:t>
            </a:r>
          </a:p>
        </p:txBody>
      </p:sp>
      <p:graphicFrame>
        <p:nvGraphicFramePr>
          <p:cNvPr id="112" name="Диаграмма 6">
            <a:extLst>
              <a:ext uri="{FF2B5EF4-FFF2-40B4-BE49-F238E27FC236}">
                <a16:creationId xmlns:a16="http://schemas.microsoft.com/office/drawing/2014/main" id="{E73CFF19-8B88-75EF-BA1C-AA269280AC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5273126"/>
              </p:ext>
            </p:extLst>
          </p:nvPr>
        </p:nvGraphicFramePr>
        <p:xfrm>
          <a:off x="8102013" y="1603280"/>
          <a:ext cx="3263900" cy="3049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69C350E0-FF46-A6F4-0AE5-F4EF92D9E63C}"/>
              </a:ext>
            </a:extLst>
          </p:cNvPr>
          <p:cNvSpPr txBox="1"/>
          <p:nvPr/>
        </p:nvSpPr>
        <p:spPr>
          <a:xfrm>
            <a:off x="1085586" y="5131299"/>
            <a:ext cx="1222656" cy="283930"/>
          </a:xfrm>
          <a:prstGeom prst="rect">
            <a:avLst/>
          </a:prstGeom>
          <a:solidFill>
            <a:srgbClr val="9EC5E5">
              <a:alpha val="45000"/>
            </a:srgbClr>
          </a:solidFill>
        </p:spPr>
        <p:txBody>
          <a:bodyPr wrap="square" lIns="36000" tIns="50400" rIns="36000" bIns="5040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Vakansiya sayı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1226202-F39F-71CE-F27E-43796A24475B}"/>
              </a:ext>
            </a:extLst>
          </p:cNvPr>
          <p:cNvSpPr txBox="1"/>
          <p:nvPr/>
        </p:nvSpPr>
        <p:spPr>
          <a:xfrm>
            <a:off x="2330266" y="5131299"/>
            <a:ext cx="901457" cy="277200"/>
          </a:xfrm>
          <a:prstGeom prst="rect">
            <a:avLst/>
          </a:prstGeom>
          <a:solidFill>
            <a:srgbClr val="1E3D6D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{13_v_ag}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7F493A4-8340-9266-6BED-419FE2A8BF19}"/>
              </a:ext>
            </a:extLst>
          </p:cNvPr>
          <p:cNvSpPr txBox="1"/>
          <p:nvPr/>
        </p:nvSpPr>
        <p:spPr>
          <a:xfrm>
            <a:off x="1085586" y="5430552"/>
            <a:ext cx="1222656" cy="283930"/>
          </a:xfrm>
          <a:prstGeom prst="rect">
            <a:avLst/>
          </a:prstGeom>
          <a:solidFill>
            <a:srgbClr val="9EC5E5">
              <a:alpha val="45000"/>
            </a:srgbClr>
          </a:solidFill>
        </p:spPr>
        <p:txBody>
          <a:bodyPr wrap="square" lIns="36000" tIns="50400" rIns="36000" bIns="5040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İşçi sayı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0E97790-EC7B-22EB-491E-FBC18F222D11}"/>
              </a:ext>
            </a:extLst>
          </p:cNvPr>
          <p:cNvSpPr txBox="1"/>
          <p:nvPr/>
        </p:nvSpPr>
        <p:spPr>
          <a:xfrm>
            <a:off x="1085586" y="5729805"/>
            <a:ext cx="1222656" cy="283930"/>
          </a:xfrm>
          <a:prstGeom prst="rect">
            <a:avLst/>
          </a:prstGeom>
          <a:solidFill>
            <a:srgbClr val="9EC5E5">
              <a:alpha val="45000"/>
            </a:srgbClr>
          </a:solidFill>
        </p:spPr>
        <p:txBody>
          <a:bodyPr wrap="square" lIns="36000" tIns="50400" rIns="36000" bIns="5040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Ştat sayı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68CAE4F-3EB6-DE1E-D841-7681B4A3011E}"/>
              </a:ext>
            </a:extLst>
          </p:cNvPr>
          <p:cNvSpPr txBox="1"/>
          <p:nvPr/>
        </p:nvSpPr>
        <p:spPr>
          <a:xfrm>
            <a:off x="2330266" y="5434017"/>
            <a:ext cx="901457" cy="553998"/>
          </a:xfrm>
          <a:prstGeom prst="rect">
            <a:avLst/>
          </a:prstGeom>
          <a:solidFill>
            <a:srgbClr val="1E3D6D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i_ag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1F560B9-98CA-67F7-44C4-223DA115E4AE}"/>
              </a:ext>
            </a:extLst>
          </p:cNvPr>
          <p:cNvSpPr txBox="1"/>
          <p:nvPr/>
        </p:nvSpPr>
        <p:spPr>
          <a:xfrm>
            <a:off x="2330266" y="5733270"/>
            <a:ext cx="901457" cy="277200"/>
          </a:xfrm>
          <a:prstGeom prst="rect">
            <a:avLst/>
          </a:prstGeom>
          <a:solidFill>
            <a:srgbClr val="1E3D6D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s_ag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BB32F93-F782-47ED-F16A-0F71FE505B2B}"/>
              </a:ext>
            </a:extLst>
          </p:cNvPr>
          <p:cNvSpPr txBox="1"/>
          <p:nvPr/>
        </p:nvSpPr>
        <p:spPr>
          <a:xfrm>
            <a:off x="3253747" y="5131299"/>
            <a:ext cx="901457" cy="277200"/>
          </a:xfrm>
          <a:prstGeom prst="rect">
            <a:avLst/>
          </a:prstGeom>
          <a:solidFill>
            <a:srgbClr val="0C64B4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{13_v_ap}</a:t>
            </a:r>
            <a:endParaRPr lang="az-Latn-AZ" dirty="0">
              <a:solidFill>
                <a:prstClr val="white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0079D9B-A2C8-14F0-418B-630D3FFDF834}"/>
              </a:ext>
            </a:extLst>
          </p:cNvPr>
          <p:cNvSpPr txBox="1"/>
          <p:nvPr/>
        </p:nvSpPr>
        <p:spPr>
          <a:xfrm>
            <a:off x="3253747" y="5434017"/>
            <a:ext cx="901457" cy="553998"/>
          </a:xfrm>
          <a:prstGeom prst="rect">
            <a:avLst/>
          </a:prstGeom>
          <a:solidFill>
            <a:srgbClr val="0C64B4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918FC9A-CCA0-DDA7-E5F3-CDF8D1A9489B}"/>
              </a:ext>
            </a:extLst>
          </p:cNvPr>
          <p:cNvSpPr txBox="1"/>
          <p:nvPr/>
        </p:nvSpPr>
        <p:spPr>
          <a:xfrm>
            <a:off x="3253747" y="5733270"/>
            <a:ext cx="901457" cy="277200"/>
          </a:xfrm>
          <a:prstGeom prst="rect">
            <a:avLst/>
          </a:prstGeom>
          <a:solidFill>
            <a:srgbClr val="0C64B4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3D37691-CE30-DA75-409A-9879203B6A0B}"/>
              </a:ext>
            </a:extLst>
          </p:cNvPr>
          <p:cNvSpPr txBox="1"/>
          <p:nvPr/>
        </p:nvSpPr>
        <p:spPr>
          <a:xfrm>
            <a:off x="4177228" y="5131299"/>
            <a:ext cx="901457" cy="277200"/>
          </a:xfrm>
          <a:prstGeom prst="rect">
            <a:avLst/>
          </a:prstGeom>
          <a:solidFill>
            <a:srgbClr val="5299BC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{13_v_me}</a:t>
            </a:r>
            <a:endParaRPr lang="az-Latn-AZ" dirty="0">
              <a:solidFill>
                <a:prstClr val="white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B9F4CEA-E38B-D73E-59CC-4930A5E301D3}"/>
              </a:ext>
            </a:extLst>
          </p:cNvPr>
          <p:cNvSpPr txBox="1"/>
          <p:nvPr/>
        </p:nvSpPr>
        <p:spPr>
          <a:xfrm>
            <a:off x="4177228" y="5434017"/>
            <a:ext cx="901457" cy="553998"/>
          </a:xfrm>
          <a:prstGeom prst="rect">
            <a:avLst/>
          </a:prstGeom>
          <a:solidFill>
            <a:srgbClr val="5299BC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E0CDBA8-8895-856C-DA09-2794F321183C}"/>
              </a:ext>
            </a:extLst>
          </p:cNvPr>
          <p:cNvSpPr txBox="1"/>
          <p:nvPr/>
        </p:nvSpPr>
        <p:spPr>
          <a:xfrm>
            <a:off x="4177228" y="5733270"/>
            <a:ext cx="901457" cy="277200"/>
          </a:xfrm>
          <a:prstGeom prst="rect">
            <a:avLst/>
          </a:prstGeom>
          <a:solidFill>
            <a:srgbClr val="5299BC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267FBC0-3705-08EA-8D89-60AF3389F588}"/>
              </a:ext>
            </a:extLst>
          </p:cNvPr>
          <p:cNvSpPr txBox="1"/>
          <p:nvPr/>
        </p:nvSpPr>
        <p:spPr>
          <a:xfrm>
            <a:off x="5099821" y="5131299"/>
            <a:ext cx="901457" cy="277200"/>
          </a:xfrm>
          <a:prstGeom prst="rect">
            <a:avLst/>
          </a:prstGeom>
          <a:solidFill>
            <a:srgbClr val="007C77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{13_v_mmc}</a:t>
            </a:r>
            <a:endParaRPr lang="az-Latn-AZ" dirty="0">
              <a:solidFill>
                <a:prstClr val="white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4E945A5-ED8D-5F23-3410-AB105DC7B9F8}"/>
              </a:ext>
            </a:extLst>
          </p:cNvPr>
          <p:cNvSpPr txBox="1"/>
          <p:nvPr/>
        </p:nvSpPr>
        <p:spPr>
          <a:xfrm>
            <a:off x="5099821" y="5434017"/>
            <a:ext cx="901457" cy="277200"/>
          </a:xfrm>
          <a:prstGeom prst="rect">
            <a:avLst/>
          </a:prstGeom>
          <a:solidFill>
            <a:srgbClr val="007C77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i_mmc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F70BF9A-3ABC-2BDF-95DF-5A845B2E17B1}"/>
              </a:ext>
            </a:extLst>
          </p:cNvPr>
          <p:cNvSpPr txBox="1"/>
          <p:nvPr/>
        </p:nvSpPr>
        <p:spPr>
          <a:xfrm>
            <a:off x="5099821" y="5733270"/>
            <a:ext cx="901457" cy="277200"/>
          </a:xfrm>
          <a:prstGeom prst="rect">
            <a:avLst/>
          </a:prstGeom>
          <a:solidFill>
            <a:srgbClr val="007C77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s_mmc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9445B66-EBA6-8DD7-3BBF-B9693D00B239}"/>
              </a:ext>
            </a:extLst>
          </p:cNvPr>
          <p:cNvSpPr txBox="1"/>
          <p:nvPr/>
        </p:nvSpPr>
        <p:spPr>
          <a:xfrm>
            <a:off x="2330266" y="4734709"/>
            <a:ext cx="901457" cy="369776"/>
          </a:xfrm>
          <a:prstGeom prst="rect">
            <a:avLst/>
          </a:prstGeom>
          <a:solidFill>
            <a:srgbClr val="C7CFDB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Agentliyi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69EBA8-434D-D49F-72E4-3B99E1E29D86}"/>
              </a:ext>
            </a:extLst>
          </p:cNvPr>
          <p:cNvSpPr txBox="1"/>
          <p:nvPr/>
        </p:nvSpPr>
        <p:spPr>
          <a:xfrm>
            <a:off x="3263199" y="4734709"/>
            <a:ext cx="892006" cy="369776"/>
          </a:xfrm>
          <a:prstGeom prst="rect">
            <a:avLst/>
          </a:prstGeom>
          <a:solidFill>
            <a:srgbClr val="C2D8ED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Aparat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7523D1-CDBD-B75F-BA15-02C16537B480}"/>
              </a:ext>
            </a:extLst>
          </p:cNvPr>
          <p:cNvSpPr txBox="1"/>
          <p:nvPr/>
        </p:nvSpPr>
        <p:spPr>
          <a:xfrm>
            <a:off x="4186679" y="4734709"/>
            <a:ext cx="892006" cy="369776"/>
          </a:xfrm>
          <a:prstGeom prst="rect">
            <a:avLst/>
          </a:prstGeom>
          <a:solidFill>
            <a:srgbClr val="D4E6EF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</a:t>
            </a: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1200" b="1" dirty="0">
                <a:solidFill>
                  <a:srgbClr val="1E3D6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Mərkəzləri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928F7EA-5158-97C8-8157-97A72DC71F87}"/>
              </a:ext>
            </a:extLst>
          </p:cNvPr>
          <p:cNvSpPr txBox="1"/>
          <p:nvPr/>
        </p:nvSpPr>
        <p:spPr>
          <a:xfrm>
            <a:off x="5104546" y="4734709"/>
            <a:ext cx="892006" cy="369776"/>
          </a:xfrm>
          <a:prstGeom prst="rect">
            <a:avLst/>
          </a:prstGeom>
          <a:solidFill>
            <a:srgbClr val="BFDEDD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</a:t>
            </a: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MMC-</a:t>
            </a:r>
            <a:r>
              <a:rPr kumimoji="0" lang="az-Latn-AZ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lər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Группа 8">
            <a:extLst>
              <a:ext uri="{FF2B5EF4-FFF2-40B4-BE49-F238E27FC236}">
                <a16:creationId xmlns:a16="http://schemas.microsoft.com/office/drawing/2014/main" id="{3C9E66DC-9852-0955-34CC-5AC6B8CCC0E0}"/>
              </a:ext>
            </a:extLst>
          </p:cNvPr>
          <p:cNvGrpSpPr/>
          <p:nvPr/>
        </p:nvGrpSpPr>
        <p:grpSpPr>
          <a:xfrm>
            <a:off x="1072869" y="1212983"/>
            <a:ext cx="3246850" cy="3246850"/>
            <a:chOff x="1072870" y="1219900"/>
            <a:chExt cx="3246850" cy="3246850"/>
          </a:xfrm>
        </p:grpSpPr>
        <p:grpSp>
          <p:nvGrpSpPr>
            <p:cNvPr id="133" name="Группа 57">
              <a:extLst>
                <a:ext uri="{FF2B5EF4-FFF2-40B4-BE49-F238E27FC236}">
                  <a16:creationId xmlns:a16="http://schemas.microsoft.com/office/drawing/2014/main" id="{CA0F4758-F590-5AE5-0E12-DE53C4A98207}"/>
                </a:ext>
              </a:extLst>
            </p:cNvPr>
            <p:cNvGrpSpPr/>
            <p:nvPr/>
          </p:nvGrpSpPr>
          <p:grpSpPr>
            <a:xfrm>
              <a:off x="1072870" y="1219900"/>
              <a:ext cx="3246850" cy="3246850"/>
              <a:chOff x="682798" y="1485482"/>
              <a:chExt cx="3020762" cy="3020762"/>
            </a:xfrm>
          </p:grpSpPr>
          <p:pic>
            <p:nvPicPr>
              <p:cNvPr id="139" name="Рисунок 58">
                <a:extLst>
                  <a:ext uri="{FF2B5EF4-FFF2-40B4-BE49-F238E27FC236}">
                    <a16:creationId xmlns:a16="http://schemas.microsoft.com/office/drawing/2014/main" id="{ED957767-57EC-DDCE-407B-FF680E476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82798" y="1485482"/>
                <a:ext cx="3020762" cy="3020762"/>
              </a:xfrm>
              <a:prstGeom prst="rect">
                <a:avLst/>
              </a:prstGeom>
            </p:spPr>
          </p:pic>
          <p:sp>
            <p:nvSpPr>
              <p:cNvPr id="140" name="Прямоугольник 41">
                <a:extLst>
                  <a:ext uri="{FF2B5EF4-FFF2-40B4-BE49-F238E27FC236}">
                    <a16:creationId xmlns:a16="http://schemas.microsoft.com/office/drawing/2014/main" id="{727C91CD-DCC3-18BB-98CA-700184712E94}"/>
                  </a:ext>
                </a:extLst>
              </p:cNvPr>
              <p:cNvSpPr/>
              <p:nvPr/>
            </p:nvSpPr>
            <p:spPr>
              <a:xfrm>
                <a:off x="2861511" y="2113131"/>
                <a:ext cx="695967" cy="114538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>
                  <a:defRPr/>
                </a:pP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{13_isdenazad}</a:t>
                </a:r>
                <a:endParaRPr kumimoji="0" lang="az-Latn-AZ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1" name="Прямоугольник 41">
                <a:extLst>
                  <a:ext uri="{FF2B5EF4-FFF2-40B4-BE49-F238E27FC236}">
                    <a16:creationId xmlns:a16="http://schemas.microsoft.com/office/drawing/2014/main" id="{91381465-6E6F-1BCF-97C1-63DA245EC586}"/>
                  </a:ext>
                </a:extLst>
              </p:cNvPr>
              <p:cNvSpPr/>
              <p:nvPr/>
            </p:nvSpPr>
            <p:spPr>
              <a:xfrm>
                <a:off x="857014" y="3592834"/>
                <a:ext cx="695968" cy="859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defRPr/>
                </a:pP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{13_orta_isci}</a:t>
                </a:r>
                <a:endParaRPr kumimoji="0" lang="az-Latn-AZ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2" name="Прямоугольник 41">
                <a:extLst>
                  <a:ext uri="{FF2B5EF4-FFF2-40B4-BE49-F238E27FC236}">
                    <a16:creationId xmlns:a16="http://schemas.microsoft.com/office/drawing/2014/main" id="{1834F008-D6BD-EE50-B1FB-94F37C629C70}"/>
                  </a:ext>
                </a:extLst>
              </p:cNvPr>
              <p:cNvSpPr/>
              <p:nvPr/>
            </p:nvSpPr>
            <p:spPr>
              <a:xfrm>
                <a:off x="2859286" y="3592834"/>
                <a:ext cx="759965" cy="859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{13_turnover}</a:t>
                </a:r>
                <a:endPara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3" name="Прямоугольник 41">
                <a:extLst>
                  <a:ext uri="{FF2B5EF4-FFF2-40B4-BE49-F238E27FC236}">
                    <a16:creationId xmlns:a16="http://schemas.microsoft.com/office/drawing/2014/main" id="{A3C9E6E2-F86D-D92F-4063-6C8A6A566A82}"/>
                  </a:ext>
                </a:extLst>
              </p:cNvPr>
              <p:cNvSpPr/>
              <p:nvPr/>
            </p:nvSpPr>
            <p:spPr>
              <a:xfrm>
                <a:off x="951423" y="2113131"/>
                <a:ext cx="601560" cy="859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5B6E7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13_iseqebil}</a:t>
                </a:r>
                <a:endParaRPr kumimoji="0" lang="az-Latn-AZ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4" name="Прямоугольник 41">
                <a:extLst>
                  <a:ext uri="{FF2B5EF4-FFF2-40B4-BE49-F238E27FC236}">
                    <a16:creationId xmlns:a16="http://schemas.microsoft.com/office/drawing/2014/main" id="{C24FB617-0FE1-CDE2-8CEC-F5C4BFDD99A8}"/>
                  </a:ext>
                </a:extLst>
              </p:cNvPr>
              <p:cNvSpPr/>
              <p:nvPr/>
            </p:nvSpPr>
            <p:spPr>
              <a:xfrm>
                <a:off x="3274494" y="3641135"/>
                <a:ext cx="247687" cy="20044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5B6E7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134" name="Прямоугольник 41">
              <a:extLst>
                <a:ext uri="{FF2B5EF4-FFF2-40B4-BE49-F238E27FC236}">
                  <a16:creationId xmlns:a16="http://schemas.microsoft.com/office/drawing/2014/main" id="{4AAD5CAB-7AB0-9E95-C18E-C286B0CD7240}"/>
                </a:ext>
              </a:extLst>
            </p:cNvPr>
            <p:cNvSpPr/>
            <p:nvPr/>
          </p:nvSpPr>
          <p:spPr>
            <a:xfrm>
              <a:off x="1260127" y="1545042"/>
              <a:ext cx="748057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İşə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qəbul sayı</a:t>
              </a:r>
            </a:p>
          </p:txBody>
        </p:sp>
        <p:sp>
          <p:nvSpPr>
            <p:cNvPr id="135" name="Прямоугольник 41">
              <a:extLst>
                <a:ext uri="{FF2B5EF4-FFF2-40B4-BE49-F238E27FC236}">
                  <a16:creationId xmlns:a16="http://schemas.microsoft.com/office/drawing/2014/main" id="{5BF55817-3838-11D4-1DC5-DA6462DFF09D}"/>
                </a:ext>
              </a:extLst>
            </p:cNvPr>
            <p:cNvSpPr/>
            <p:nvPr/>
          </p:nvSpPr>
          <p:spPr>
            <a:xfrm>
              <a:off x="3412258" y="1545042"/>
              <a:ext cx="646585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İşdən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azad sayı</a:t>
              </a:r>
            </a:p>
          </p:txBody>
        </p:sp>
        <p:sp>
          <p:nvSpPr>
            <p:cNvPr id="136" name="Прямоугольник 41">
              <a:extLst>
                <a:ext uri="{FF2B5EF4-FFF2-40B4-BE49-F238E27FC236}">
                  <a16:creationId xmlns:a16="http://schemas.microsoft.com/office/drawing/2014/main" id="{B1494F70-793D-1A7C-AA3E-7C03AEA7C7E8}"/>
                </a:ext>
              </a:extLst>
            </p:cNvPr>
            <p:cNvSpPr/>
            <p:nvPr/>
          </p:nvSpPr>
          <p:spPr>
            <a:xfrm>
              <a:off x="1409700" y="3823528"/>
              <a:ext cx="598483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Orta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işçi sayı</a:t>
              </a:r>
            </a:p>
          </p:txBody>
        </p:sp>
        <p:sp>
          <p:nvSpPr>
            <p:cNvPr id="137" name="Прямоугольник 41">
              <a:extLst>
                <a:ext uri="{FF2B5EF4-FFF2-40B4-BE49-F238E27FC236}">
                  <a16:creationId xmlns:a16="http://schemas.microsoft.com/office/drawing/2014/main" id="{CCC86A88-C515-B5CD-6ADD-7C2C4187C070}"/>
                </a:ext>
              </a:extLst>
            </p:cNvPr>
            <p:cNvSpPr/>
            <p:nvPr/>
          </p:nvSpPr>
          <p:spPr>
            <a:xfrm>
              <a:off x="3412258" y="3823528"/>
              <a:ext cx="646584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Turnover</a:t>
              </a:r>
            </a:p>
          </p:txBody>
        </p:sp>
        <p:sp>
          <p:nvSpPr>
            <p:cNvPr id="138" name="Прямоугольник 41">
              <a:extLst>
                <a:ext uri="{FF2B5EF4-FFF2-40B4-BE49-F238E27FC236}">
                  <a16:creationId xmlns:a16="http://schemas.microsoft.com/office/drawing/2014/main" id="{0071F510-D4AF-C041-2E7A-1B8A7CAF89D0}"/>
                </a:ext>
              </a:extLst>
            </p:cNvPr>
            <p:cNvSpPr/>
            <p:nvPr/>
          </p:nvSpPr>
          <p:spPr>
            <a:xfrm>
              <a:off x="2080951" y="2469080"/>
              <a:ext cx="1237098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{13_stat}</a:t>
              </a:r>
              <a:endPara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797DBAB9-CA80-67CC-51E1-5E6F942A199A}"/>
              </a:ext>
            </a:extLst>
          </p:cNvPr>
          <p:cNvSpPr txBox="1"/>
          <p:nvPr/>
        </p:nvSpPr>
        <p:spPr>
          <a:xfrm>
            <a:off x="1194233" y="562640"/>
            <a:ext cx="100147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{13_title}</a:t>
            </a:r>
            <a:endParaRPr kumimoji="0" lang="az-Latn-AZ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5F0DD40-228F-6E42-89A7-F33DC566EF5B}"/>
              </a:ext>
            </a:extLst>
          </p:cNvPr>
          <p:cNvSpPr txBox="1"/>
          <p:nvPr/>
        </p:nvSpPr>
        <p:spPr>
          <a:xfrm>
            <a:off x="7164609" y="5756353"/>
            <a:ext cx="4044412" cy="2308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spAutoFit/>
          </a:bodyPr>
          <a:lstStyle/>
          <a:p>
            <a:r>
              <a:rPr kumimoji="0" lang="az-Latn-AZ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Qeyd: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B081BB9-793A-905F-4EAB-9474E94E0D66}"/>
              </a:ext>
            </a:extLst>
          </p:cNvPr>
          <p:cNvSpPr txBox="1"/>
          <p:nvPr/>
        </p:nvSpPr>
        <p:spPr>
          <a:xfrm>
            <a:off x="7576565" y="5756353"/>
            <a:ext cx="4044412" cy="2308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{13_qeyd}</a:t>
            </a:r>
          </a:p>
        </p:txBody>
      </p:sp>
      <p:pic>
        <p:nvPicPr>
          <p:cNvPr id="148" name="slide_13_donut">
            <a:extLst>
              <a:ext uri="{FF2B5EF4-FFF2-40B4-BE49-F238E27FC236}">
                <a16:creationId xmlns:a16="http://schemas.microsoft.com/office/drawing/2014/main" id="{CC4A5102-3323-B970-045C-DDA3E7740B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669" y="1538125"/>
            <a:ext cx="3600859" cy="41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19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0B1C-F19D-34F9-A344-89EFBDD4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F99E8CF-C04D-E848-CCF4-D3E8241668DD}"/>
              </a:ext>
            </a:extLst>
          </p:cNvPr>
          <p:cNvSpPr txBox="1"/>
          <p:nvPr/>
        </p:nvSpPr>
        <p:spPr>
          <a:xfrm>
            <a:off x="1982983" y="1505816"/>
            <a:ext cx="6527017" cy="279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Heyətin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cəlbi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və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işə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qəbul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üzrə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pic>
        <p:nvPicPr>
          <p:cNvPr id="10" name="Рисунок 24" descr="Изображение выглядит как Графика, символ, логотип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44E71B3-FBF0-71F8-D3B5-BDC171B6E32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54" y="1533235"/>
            <a:ext cx="324000" cy="306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03F9F0-B38B-8569-B255-28B3205B95E6}"/>
              </a:ext>
            </a:extLst>
          </p:cNvPr>
          <p:cNvSpPr txBox="1"/>
          <p:nvPr/>
        </p:nvSpPr>
        <p:spPr>
          <a:xfrm>
            <a:off x="1994731" y="1842334"/>
            <a:ext cx="60253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marR="0" lvl="0" indent="-285750" defTabSz="914400" rtl="0" eaLnBrk="1" fontAlgn="auto" latinLnBrk="0" hangingPunct="1"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Agentliyində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iş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yerlərinin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təhlilinə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(job analysis)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aparılmaması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heyətin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optimallaşdırılmasına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ehtiyacın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olması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30F62-1F9D-D6BA-339E-93FACDA80647}"/>
              </a:ext>
            </a:extLst>
          </p:cNvPr>
          <p:cNvSpPr txBox="1"/>
          <p:nvPr/>
        </p:nvSpPr>
        <p:spPr>
          <a:xfrm>
            <a:off x="1982983" y="2409222"/>
            <a:ext cx="6527017" cy="279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Fəaliyyətin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qiymətləndirilməsi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81280-69D0-01D9-3A31-D48467423612}"/>
              </a:ext>
            </a:extLst>
          </p:cNvPr>
          <p:cNvSpPr txBox="1"/>
          <p:nvPr/>
        </p:nvSpPr>
        <p:spPr>
          <a:xfrm>
            <a:off x="1994731" y="2745740"/>
            <a:ext cx="6025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marR="0" lvl="0" indent="-285750" defTabSz="914400" rtl="0" eaLnBrk="1" fontAlgn="auto" latinLnBrk="0" hangingPunct="1"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İşçilərin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xidməti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fəaliyyətinin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qiymətləndirilməsi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prosesinin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effektiv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tətbiqi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ilə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bağlı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avtomatlaşdırılmış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idarəetmə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sisteminin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olmaması</a:t>
            </a:r>
            <a:r>
              <a:rPr lang="en-US" sz="1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6" name="Рисунок 24" descr="Изображение выглядит как Графика, символ, логотип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832ECAF-C5EB-F20C-8C55-B563768C8D6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54" y="2439623"/>
            <a:ext cx="324000" cy="306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956F49-EC64-058B-D427-B4BE4C4B9CF8}"/>
              </a:ext>
            </a:extLst>
          </p:cNvPr>
          <p:cNvSpPr txBox="1"/>
          <p:nvPr/>
        </p:nvSpPr>
        <p:spPr>
          <a:xfrm>
            <a:off x="1210023" y="540327"/>
            <a:ext cx="75947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İnsan resurslarının idarə olunması: </a:t>
            </a:r>
            <a:r>
              <a:rPr kumimoji="0" lang="az-Latn-AZ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mövcud vəziyyətə dair icmal </a:t>
            </a:r>
          </a:p>
        </p:txBody>
      </p:sp>
      <p:grpSp>
        <p:nvGrpSpPr>
          <p:cNvPr id="11" name="Группа 5">
            <a:extLst>
              <a:ext uri="{FF2B5EF4-FFF2-40B4-BE49-F238E27FC236}">
                <a16:creationId xmlns:a16="http://schemas.microsoft.com/office/drawing/2014/main" id="{FC9DA59C-DCAE-2135-42DA-A7FDD2A39B40}"/>
              </a:ext>
            </a:extLst>
          </p:cNvPr>
          <p:cNvGrpSpPr/>
          <p:nvPr/>
        </p:nvGrpSpPr>
        <p:grpSpPr>
          <a:xfrm>
            <a:off x="1447754" y="3288737"/>
            <a:ext cx="6358022" cy="971283"/>
            <a:chOff x="1157521" y="1698276"/>
            <a:chExt cx="6358022" cy="971283"/>
          </a:xfrm>
        </p:grpSpPr>
        <p:grpSp>
          <p:nvGrpSpPr>
            <p:cNvPr id="12" name="Группа 18">
              <a:extLst>
                <a:ext uri="{FF2B5EF4-FFF2-40B4-BE49-F238E27FC236}">
                  <a16:creationId xmlns:a16="http://schemas.microsoft.com/office/drawing/2014/main" id="{C0E5DC76-0B92-49D6-D084-B5DD921025C7}"/>
                </a:ext>
              </a:extLst>
            </p:cNvPr>
            <p:cNvGrpSpPr/>
            <p:nvPr/>
          </p:nvGrpSpPr>
          <p:grpSpPr>
            <a:xfrm>
              <a:off x="1157521" y="1698276"/>
              <a:ext cx="6358022" cy="351466"/>
              <a:chOff x="1263824" y="3383652"/>
              <a:chExt cx="5728852" cy="35146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81F5C6-FD6A-901E-4FA9-8DC410E0DE62}"/>
                  </a:ext>
                </a:extLst>
              </p:cNvPr>
              <p:cNvSpPr txBox="1"/>
              <p:nvPr/>
            </p:nvSpPr>
            <p:spPr>
              <a:xfrm>
                <a:off x="1746088" y="3383652"/>
                <a:ext cx="5246588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b="1" dirty="0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Heyətin </a:t>
                </a:r>
                <a:r>
                  <a:rPr lang="en-US" sz="1400" b="1" dirty="0" err="1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inkişafı</a:t>
                </a:r>
                <a:r>
                  <a:rPr lang="en-US" sz="1400" b="1" dirty="0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az-Latn-AZ" sz="1400" b="1" dirty="0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və motivasiyası </a:t>
                </a:r>
                <a:r>
                  <a:rPr lang="en-US" sz="1400" b="1" dirty="0" err="1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üzrə</a:t>
                </a:r>
                <a:r>
                  <a:rPr lang="en-US" sz="1400" b="1" dirty="0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  <p:pic>
            <p:nvPicPr>
              <p:cNvPr id="30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194B18E0-7938-CAF9-C891-E1798D29F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A357C34-6D93-2FF9-4699-6A7E6E28B46E}"/>
                </a:ext>
              </a:extLst>
            </p:cNvPr>
            <p:cNvSpPr txBox="1"/>
            <p:nvPr/>
          </p:nvSpPr>
          <p:spPr>
            <a:xfrm>
              <a:off x="1704496" y="2023228"/>
              <a:ext cx="5544758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defTabSz="914400" rtl="0" eaLnBrk="1" fontAlgn="auto" latinLnBrk="0" hangingPunct="1"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DOST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Agentliyinin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işçilərinin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peşəkar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inkişafının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təmin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edilməsi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ilə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bağlı</a:t>
              </a:r>
              <a:r>
                <a:rPr lang="az-Latn-AZ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təsdiq edilmiş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təlim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büdcəsinin</a:t>
              </a:r>
              <a:r>
                <a:rPr lang="az-Latn-AZ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istifadəsi üz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r>
                <a:rPr lang="az-Latn-AZ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 məhdudiyyətlər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;</a:t>
              </a:r>
            </a:p>
          </p:txBody>
        </p:sp>
      </p:grpSp>
      <p:grpSp>
        <p:nvGrpSpPr>
          <p:cNvPr id="31" name="Группа 2">
            <a:extLst>
              <a:ext uri="{FF2B5EF4-FFF2-40B4-BE49-F238E27FC236}">
                <a16:creationId xmlns:a16="http://schemas.microsoft.com/office/drawing/2014/main" id="{25FAF931-7B77-A7DF-CAC5-7F893024A564}"/>
              </a:ext>
            </a:extLst>
          </p:cNvPr>
          <p:cNvGrpSpPr/>
          <p:nvPr/>
        </p:nvGrpSpPr>
        <p:grpSpPr>
          <a:xfrm>
            <a:off x="1447754" y="4228549"/>
            <a:ext cx="7358949" cy="1402170"/>
            <a:chOff x="1157521" y="1698276"/>
            <a:chExt cx="7358949" cy="1402170"/>
          </a:xfrm>
        </p:grpSpPr>
        <p:grpSp>
          <p:nvGrpSpPr>
            <p:cNvPr id="32" name="Группа 8">
              <a:extLst>
                <a:ext uri="{FF2B5EF4-FFF2-40B4-BE49-F238E27FC236}">
                  <a16:creationId xmlns:a16="http://schemas.microsoft.com/office/drawing/2014/main" id="{C469B4B9-835B-E39B-C535-F2AAE1E8B88D}"/>
                </a:ext>
              </a:extLst>
            </p:cNvPr>
            <p:cNvGrpSpPr/>
            <p:nvPr/>
          </p:nvGrpSpPr>
          <p:grpSpPr>
            <a:xfrm>
              <a:off x="1157521" y="1698276"/>
              <a:ext cx="7358949" cy="351466"/>
              <a:chOff x="1263824" y="3383652"/>
              <a:chExt cx="6630730" cy="35146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B08A382-4BAE-E2EF-5600-9EE8D4BFA48E}"/>
                  </a:ext>
                </a:extLst>
              </p:cNvPr>
              <p:cNvSpPr txBox="1"/>
              <p:nvPr/>
            </p:nvSpPr>
            <p:spPr>
              <a:xfrm>
                <a:off x="1746088" y="3383652"/>
                <a:ext cx="6148466" cy="279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az-Latn-AZ" sz="1400" b="1" dirty="0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Könüllü fəaliyyəti</a:t>
                </a:r>
                <a:r>
                  <a:rPr lang="en-US" sz="1400" b="1" dirty="0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  <p:pic>
            <p:nvPicPr>
              <p:cNvPr id="38" name="Рисунок 24" descr="Изображение выглядит как Графика, символ, логотип, дизайн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6A6A0EF2-6288-6856-6579-F25B149D7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3824" y="3429001"/>
                <a:ext cx="291938" cy="306117"/>
              </a:xfrm>
              <a:prstGeom prst="rect">
                <a:avLst/>
              </a:prstGeom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D2CB1A-5F09-CFFF-39C1-540E9425AF15}"/>
                </a:ext>
              </a:extLst>
            </p:cNvPr>
            <p:cNvSpPr txBox="1"/>
            <p:nvPr/>
          </p:nvSpPr>
          <p:spPr>
            <a:xfrm>
              <a:off x="1704496" y="2023228"/>
              <a:ext cx="4906403" cy="1077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marR="0" lvl="0" indent="-285750" defTabSz="914400" rtl="0" eaLnBrk="1" fontAlgn="auto" latinLnBrk="0" hangingPunct="1"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DOST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Agentliyində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əmək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haqqı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sisteminin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çevik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olmaması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vəzifələr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arasında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əmək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haqqı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diapazonunun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dar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olması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stimullaşdırıcı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alətlərin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əmək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haqqına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əlavələrin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olmaması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vəzifə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strukturuna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baxılmasına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ehtiyacın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400" dirty="0" err="1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olması</a:t>
              </a:r>
              <a:r>
                <a:rPr lang="en-US" sz="14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).</a:t>
              </a:r>
            </a:p>
          </p:txBody>
        </p:sp>
      </p:grpSp>
      <p:grpSp>
        <p:nvGrpSpPr>
          <p:cNvPr id="39" name="Группа 14">
            <a:extLst>
              <a:ext uri="{FF2B5EF4-FFF2-40B4-BE49-F238E27FC236}">
                <a16:creationId xmlns:a16="http://schemas.microsoft.com/office/drawing/2014/main" id="{A65C45F7-388B-F104-243F-2575A90CFAB6}"/>
              </a:ext>
            </a:extLst>
          </p:cNvPr>
          <p:cNvGrpSpPr/>
          <p:nvPr/>
        </p:nvGrpSpPr>
        <p:grpSpPr>
          <a:xfrm rot="430693">
            <a:off x="10303614" y="4988732"/>
            <a:ext cx="1341090" cy="837975"/>
            <a:chOff x="9768644" y="5150102"/>
            <a:chExt cx="1341090" cy="837975"/>
          </a:xfrm>
        </p:grpSpPr>
        <p:sp>
          <p:nvSpPr>
            <p:cNvPr id="40" name="Прямоугольник 64">
              <a:extLst>
                <a:ext uri="{FF2B5EF4-FFF2-40B4-BE49-F238E27FC236}">
                  <a16:creationId xmlns:a16="http://schemas.microsoft.com/office/drawing/2014/main" id="{AC73D568-56DF-418F-8375-304A9A9F1D40}"/>
                </a:ext>
              </a:extLst>
            </p:cNvPr>
            <p:cNvSpPr/>
            <p:nvPr/>
          </p:nvSpPr>
          <p:spPr>
            <a:xfrm rot="21046556">
              <a:off x="9768644" y="5150102"/>
              <a:ext cx="1275632" cy="495779"/>
            </a:xfrm>
            <a:prstGeom prst="rect">
              <a:avLst/>
            </a:prstGeom>
            <a:solidFill>
              <a:srgbClr val="FAFBFC"/>
            </a:solidFill>
            <a:ln w="6350" cap="flat" cmpd="sng" algn="ctr">
              <a:solidFill>
                <a:sysClr val="window" lastClr="FFFFFF">
                  <a:lumMod val="95000"/>
                </a:sys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1FBF2B-57C9-A24C-12BF-EF4B8CF80AC8}"/>
                </a:ext>
              </a:extLst>
            </p:cNvPr>
            <p:cNvSpPr txBox="1"/>
            <p:nvPr/>
          </p:nvSpPr>
          <p:spPr>
            <a:xfrm rot="21035941">
              <a:off x="9826381" y="5165676"/>
              <a:ext cx="1159676" cy="461665"/>
            </a:xfrm>
            <a:prstGeom prst="rect">
              <a:avLst/>
            </a:prstGeom>
            <a:solidFill>
              <a:srgbClr val="FAFBFC"/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376D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İşə düzəlmə</a:t>
              </a:r>
            </a:p>
          </p:txBody>
        </p:sp>
        <p:sp>
          <p:nvSpPr>
            <p:cNvPr id="42" name="Прямоугольник 66">
              <a:extLst>
                <a:ext uri="{FF2B5EF4-FFF2-40B4-BE49-F238E27FC236}">
                  <a16:creationId xmlns:a16="http://schemas.microsoft.com/office/drawing/2014/main" id="{EFA8E2F2-7BD2-6D87-CBE6-CE9861676B78}"/>
                </a:ext>
              </a:extLst>
            </p:cNvPr>
            <p:cNvSpPr/>
            <p:nvPr/>
          </p:nvSpPr>
          <p:spPr>
            <a:xfrm rot="21046556">
              <a:off x="9836299" y="5627590"/>
              <a:ext cx="1273435" cy="360487"/>
            </a:xfrm>
            <a:prstGeom prst="rect">
              <a:avLst/>
            </a:prstGeom>
            <a:solidFill>
              <a:srgbClr val="913FA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8D3BC9-7CEF-1D56-3EE8-F06DD7877A06}"/>
                </a:ext>
              </a:extLst>
            </p:cNvPr>
            <p:cNvSpPr txBox="1"/>
            <p:nvPr/>
          </p:nvSpPr>
          <p:spPr>
            <a:xfrm rot="21035941">
              <a:off x="9962806" y="5687531"/>
              <a:ext cx="1023643" cy="26044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305</a:t>
              </a:r>
              <a:endParaRPr kumimoji="0" lang="az-Latn-AZ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4" name="Группа 27">
            <a:extLst>
              <a:ext uri="{FF2B5EF4-FFF2-40B4-BE49-F238E27FC236}">
                <a16:creationId xmlns:a16="http://schemas.microsoft.com/office/drawing/2014/main" id="{A1C1AACB-CC21-32FA-FF80-E34949C96FFB}"/>
              </a:ext>
            </a:extLst>
          </p:cNvPr>
          <p:cNvGrpSpPr/>
          <p:nvPr/>
        </p:nvGrpSpPr>
        <p:grpSpPr>
          <a:xfrm rot="21192104">
            <a:off x="8127821" y="4780144"/>
            <a:ext cx="1790498" cy="1115780"/>
            <a:chOff x="6500390" y="5238830"/>
            <a:chExt cx="1790498" cy="1115780"/>
          </a:xfrm>
        </p:grpSpPr>
        <p:sp>
          <p:nvSpPr>
            <p:cNvPr id="45" name="Прямоугольник 50">
              <a:extLst>
                <a:ext uri="{FF2B5EF4-FFF2-40B4-BE49-F238E27FC236}">
                  <a16:creationId xmlns:a16="http://schemas.microsoft.com/office/drawing/2014/main" id="{3802A97B-BD05-C291-BBD1-596B86DA680B}"/>
                </a:ext>
              </a:extLst>
            </p:cNvPr>
            <p:cNvSpPr/>
            <p:nvPr/>
          </p:nvSpPr>
          <p:spPr>
            <a:xfrm rot="364156">
              <a:off x="6547479" y="5238830"/>
              <a:ext cx="1743409" cy="891843"/>
            </a:xfrm>
            <a:prstGeom prst="rect">
              <a:avLst/>
            </a:prstGeom>
            <a:solidFill>
              <a:srgbClr val="FAFBFC"/>
            </a:solidFill>
            <a:ln w="6350" cap="flat" cmpd="sng" algn="ctr">
              <a:solidFill>
                <a:sysClr val="window" lastClr="FFFFFF">
                  <a:lumMod val="95000"/>
                </a:sys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E3112D-9215-883A-6310-013A2F417196}"/>
                </a:ext>
              </a:extLst>
            </p:cNvPr>
            <p:cNvSpPr txBox="1"/>
            <p:nvPr/>
          </p:nvSpPr>
          <p:spPr>
            <a:xfrm rot="353541">
              <a:off x="6610293" y="5270665"/>
              <a:ext cx="1587665" cy="692497"/>
            </a:xfrm>
            <a:prstGeom prst="rect">
              <a:avLst/>
            </a:prstGeom>
            <a:solidFill>
              <a:srgbClr val="FAFBFC"/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376D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Könüllü proqramına 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37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376D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cəlb olunub</a:t>
              </a:r>
            </a:p>
          </p:txBody>
        </p:sp>
        <p:sp>
          <p:nvSpPr>
            <p:cNvPr id="47" name="Прямоугольник 52">
              <a:extLst>
                <a:ext uri="{FF2B5EF4-FFF2-40B4-BE49-F238E27FC236}">
                  <a16:creationId xmlns:a16="http://schemas.microsoft.com/office/drawing/2014/main" id="{35294B17-B41A-5B52-B1BB-5B38C0F06E48}"/>
                </a:ext>
              </a:extLst>
            </p:cNvPr>
            <p:cNvSpPr/>
            <p:nvPr/>
          </p:nvSpPr>
          <p:spPr>
            <a:xfrm rot="364156">
              <a:off x="6500390" y="5971213"/>
              <a:ext cx="1743409" cy="383397"/>
            </a:xfrm>
            <a:prstGeom prst="rect">
              <a:avLst/>
            </a:prstGeom>
            <a:solidFill>
              <a:srgbClr val="6697A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E1EB72-91DD-F68C-AFF7-4468EFC2DC5D}"/>
                </a:ext>
              </a:extLst>
            </p:cNvPr>
            <p:cNvSpPr txBox="1"/>
            <p:nvPr/>
          </p:nvSpPr>
          <p:spPr>
            <a:xfrm rot="386559">
              <a:off x="6892254" y="6013391"/>
              <a:ext cx="909337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6 110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B3AFCE79-DF3B-2D64-5E7B-149A2BAC9F3B}"/>
              </a:ext>
            </a:extLst>
          </p:cNvPr>
          <p:cNvGrpSpPr/>
          <p:nvPr/>
        </p:nvGrpSpPr>
        <p:grpSpPr>
          <a:xfrm>
            <a:off x="7900169" y="3681374"/>
            <a:ext cx="2077895" cy="891843"/>
            <a:chOff x="806691" y="2948872"/>
            <a:chExt cx="1447741" cy="891843"/>
          </a:xfrm>
        </p:grpSpPr>
        <p:sp>
          <p:nvSpPr>
            <p:cNvPr id="50" name="Прямоугольник 4">
              <a:extLst>
                <a:ext uri="{FF2B5EF4-FFF2-40B4-BE49-F238E27FC236}">
                  <a16:creationId xmlns:a16="http://schemas.microsoft.com/office/drawing/2014/main" id="{8EE800A7-25E8-6F85-70FF-E98DADC80880}"/>
                </a:ext>
              </a:extLst>
            </p:cNvPr>
            <p:cNvSpPr/>
            <p:nvPr/>
          </p:nvSpPr>
          <p:spPr>
            <a:xfrm>
              <a:off x="806691" y="2948872"/>
              <a:ext cx="1447741" cy="89184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95000"/>
                </a:sys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1E1C3A8-8079-A711-55AE-E739FBB89F5C}"/>
                </a:ext>
              </a:extLst>
            </p:cNvPr>
            <p:cNvSpPr txBox="1"/>
            <p:nvPr/>
          </p:nvSpPr>
          <p:spPr>
            <a:xfrm rot="21589385">
              <a:off x="871356" y="3084952"/>
              <a:ext cx="1318410" cy="2308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376D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Ərizə sayı</a:t>
              </a:r>
            </a:p>
          </p:txBody>
        </p:sp>
        <p:sp>
          <p:nvSpPr>
            <p:cNvPr id="52" name="Прямоугольник 39">
              <a:extLst>
                <a:ext uri="{FF2B5EF4-FFF2-40B4-BE49-F238E27FC236}">
                  <a16:creationId xmlns:a16="http://schemas.microsoft.com/office/drawing/2014/main" id="{EEA4FA17-300D-463A-F520-8C95CFED3FCF}"/>
                </a:ext>
              </a:extLst>
            </p:cNvPr>
            <p:cNvSpPr/>
            <p:nvPr/>
          </p:nvSpPr>
          <p:spPr>
            <a:xfrm>
              <a:off x="806691" y="3451865"/>
              <a:ext cx="1447741" cy="383397"/>
            </a:xfrm>
            <a:prstGeom prst="rect">
              <a:avLst/>
            </a:prstGeom>
            <a:solidFill>
              <a:srgbClr val="E94F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B1BA28D-3C16-A0D8-6100-AD2D8EB91A80}"/>
                </a:ext>
              </a:extLst>
            </p:cNvPr>
            <p:cNvSpPr txBox="1"/>
            <p:nvPr/>
          </p:nvSpPr>
          <p:spPr>
            <a:xfrm rot="21589385">
              <a:off x="948682" y="3515753"/>
              <a:ext cx="116375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140 000</a:t>
              </a:r>
            </a:p>
          </p:txBody>
        </p:sp>
      </p:grpSp>
      <p:grpSp>
        <p:nvGrpSpPr>
          <p:cNvPr id="54" name="Группа 63">
            <a:extLst>
              <a:ext uri="{FF2B5EF4-FFF2-40B4-BE49-F238E27FC236}">
                <a16:creationId xmlns:a16="http://schemas.microsoft.com/office/drawing/2014/main" id="{FFC74B7A-1D93-65AC-3CE1-4593927CDAF8}"/>
              </a:ext>
            </a:extLst>
          </p:cNvPr>
          <p:cNvGrpSpPr/>
          <p:nvPr/>
        </p:nvGrpSpPr>
        <p:grpSpPr>
          <a:xfrm>
            <a:off x="10132721" y="3633003"/>
            <a:ext cx="1581201" cy="918625"/>
            <a:chOff x="806691" y="2858256"/>
            <a:chExt cx="1447741" cy="977006"/>
          </a:xfrm>
        </p:grpSpPr>
        <p:sp>
          <p:nvSpPr>
            <p:cNvPr id="55" name="Прямоугольник 64">
              <a:extLst>
                <a:ext uri="{FF2B5EF4-FFF2-40B4-BE49-F238E27FC236}">
                  <a16:creationId xmlns:a16="http://schemas.microsoft.com/office/drawing/2014/main" id="{9ACF9ED1-8C5C-0F0E-D428-A4E673CD4E59}"/>
                </a:ext>
              </a:extLst>
            </p:cNvPr>
            <p:cNvSpPr/>
            <p:nvPr/>
          </p:nvSpPr>
          <p:spPr>
            <a:xfrm>
              <a:off x="814035" y="2858256"/>
              <a:ext cx="1439435" cy="602572"/>
            </a:xfrm>
            <a:prstGeom prst="rect">
              <a:avLst/>
            </a:prstGeom>
            <a:solidFill>
              <a:srgbClr val="FAFBFC"/>
            </a:solidFill>
            <a:ln w="6350" cap="flat" cmpd="sng" algn="ctr">
              <a:solidFill>
                <a:sysClr val="window" lastClr="FFFFFF">
                  <a:lumMod val="95000"/>
                </a:sys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60FC936-6120-D0CD-9873-E9009DA98404}"/>
                </a:ext>
              </a:extLst>
            </p:cNvPr>
            <p:cNvSpPr txBox="1"/>
            <p:nvPr/>
          </p:nvSpPr>
          <p:spPr>
            <a:xfrm rot="21589385">
              <a:off x="915119" y="2912697"/>
              <a:ext cx="1318411" cy="491005"/>
            </a:xfrm>
            <a:prstGeom prst="rect">
              <a:avLst/>
            </a:prstGeom>
            <a:solidFill>
              <a:srgbClr val="FAFBFC"/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376D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Fəaliyyət müddəti</a:t>
              </a:r>
            </a:p>
          </p:txBody>
        </p:sp>
        <p:sp>
          <p:nvSpPr>
            <p:cNvPr id="57" name="Прямоугольник 66">
              <a:extLst>
                <a:ext uri="{FF2B5EF4-FFF2-40B4-BE49-F238E27FC236}">
                  <a16:creationId xmlns:a16="http://schemas.microsoft.com/office/drawing/2014/main" id="{3BF5DC20-3976-B571-9BC4-01D7649AA197}"/>
                </a:ext>
              </a:extLst>
            </p:cNvPr>
            <p:cNvSpPr/>
            <p:nvPr/>
          </p:nvSpPr>
          <p:spPr>
            <a:xfrm>
              <a:off x="806691" y="3451865"/>
              <a:ext cx="1447741" cy="383397"/>
            </a:xfrm>
            <a:prstGeom prst="rect">
              <a:avLst/>
            </a:prstGeom>
            <a:solidFill>
              <a:srgbClr val="5300C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9EBDAE-B4EA-A285-F6CE-2E15B87034AF}"/>
                </a:ext>
              </a:extLst>
            </p:cNvPr>
            <p:cNvSpPr txBox="1"/>
            <p:nvPr/>
          </p:nvSpPr>
          <p:spPr>
            <a:xfrm rot="21589385">
              <a:off x="948682" y="3506951"/>
              <a:ext cx="1163758" cy="29460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 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9261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BF34-6C61-CF09-0E6B-FBBA3BDC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AFDE3A-68CE-0BA8-5E9E-6F216A998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5322" y="-36508"/>
            <a:ext cx="4656678" cy="4373592"/>
          </a:xfrm>
          <a:prstGeom prst="rect">
            <a:avLst/>
          </a:prstGeom>
        </p:spPr>
      </p:pic>
      <p:grpSp>
        <p:nvGrpSpPr>
          <p:cNvPr id="13" name="Группа 1">
            <a:extLst>
              <a:ext uri="{FF2B5EF4-FFF2-40B4-BE49-F238E27FC236}">
                <a16:creationId xmlns:a16="http://schemas.microsoft.com/office/drawing/2014/main" id="{775BB65D-4349-4BD3-6012-45085C35D150}"/>
              </a:ext>
            </a:extLst>
          </p:cNvPr>
          <p:cNvGrpSpPr/>
          <p:nvPr/>
        </p:nvGrpSpPr>
        <p:grpSpPr>
          <a:xfrm>
            <a:off x="1182557" y="4147929"/>
            <a:ext cx="7905414" cy="913070"/>
            <a:chOff x="1263824" y="3392904"/>
            <a:chExt cx="7123119" cy="9130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AA9D1B-5213-CA9A-7AA2-860A36736289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9130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DOST nümayəndə heyyətinin Xorvatiya respublikasına səfəri </a:t>
              </a:r>
            </a:p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Səfər İH sədrinin rəhbərlik etdiyi heyyətin 6-9 aprel ayında nəzərdə tutulub. Səfər zamanı Zaqreb şəhərində bir sıra rəsmi görüşlər keçieiləcək, DOST konsepsiyasının tətbiqi olunması müzakirıə olunacaq.  </a:t>
              </a:r>
            </a:p>
          </p:txBody>
        </p:sp>
        <p:pic>
          <p:nvPicPr>
            <p:cNvPr id="15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8F3677FB-B279-6A35-1DD3-95D40B88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CCE5733-906B-8136-FF2D-23A15E33347A}"/>
              </a:ext>
            </a:extLst>
          </p:cNvPr>
          <p:cNvSpPr txBox="1"/>
          <p:nvPr/>
        </p:nvSpPr>
        <p:spPr>
          <a:xfrm>
            <a:off x="1182557" y="513624"/>
            <a:ext cx="703596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Hədəf və gözləntilər: </a:t>
            </a:r>
            <a:r>
              <a:rPr kumimoji="0" lang="az-Latn-AZ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planlaşdırılan əsas fəaliyət və tədbirlər </a:t>
            </a:r>
          </a:p>
        </p:txBody>
      </p:sp>
      <p:grpSp>
        <p:nvGrpSpPr>
          <p:cNvPr id="4" name="Группа 1">
            <a:extLst>
              <a:ext uri="{FF2B5EF4-FFF2-40B4-BE49-F238E27FC236}">
                <a16:creationId xmlns:a16="http://schemas.microsoft.com/office/drawing/2014/main" id="{C14337A6-B801-B290-64DB-48D0C527607D}"/>
              </a:ext>
            </a:extLst>
          </p:cNvPr>
          <p:cNvGrpSpPr/>
          <p:nvPr/>
        </p:nvGrpSpPr>
        <p:grpSpPr>
          <a:xfrm>
            <a:off x="1182557" y="5131228"/>
            <a:ext cx="7905414" cy="697627"/>
            <a:chOff x="1263824" y="3392904"/>
            <a:chExt cx="7123119" cy="69762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AFFB4D-7A80-9608-2654-6EB36D9DCC6A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6976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DOST İH sədrinin ESN iclasında iştirakı  </a:t>
              </a:r>
            </a:p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İH sədrinin cari ilin may ayında Maltada keçiriləcək ESN konfransında iştirakı və təqdimatı nəzərdə tutulur.  </a:t>
              </a:r>
            </a:p>
          </p:txBody>
        </p:sp>
        <p:pic>
          <p:nvPicPr>
            <p:cNvPr id="18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56370854-A773-96B0-E1F6-9722A1448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19" name="Группа 1">
            <a:extLst>
              <a:ext uri="{FF2B5EF4-FFF2-40B4-BE49-F238E27FC236}">
                <a16:creationId xmlns:a16="http://schemas.microsoft.com/office/drawing/2014/main" id="{6F039821-7C6B-5EA7-407B-12F4283DC08F}"/>
              </a:ext>
            </a:extLst>
          </p:cNvPr>
          <p:cNvGrpSpPr/>
          <p:nvPr/>
        </p:nvGrpSpPr>
        <p:grpSpPr>
          <a:xfrm>
            <a:off x="1182557" y="3525777"/>
            <a:ext cx="7905414" cy="482183"/>
            <a:chOff x="1263824" y="3392904"/>
            <a:chExt cx="7123119" cy="48218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5769DA-45E3-7FC4-DBAB-53DE9F9DC048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4821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Sosial ödənişlərin ƏMAS-a inteqrasiyası </a:t>
              </a:r>
            </a:p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Cari ilin aprel ayında Neftçala şəhərində növbəti DOST filialının açılışı nəzərdə tutulur.   </a:t>
              </a:r>
            </a:p>
          </p:txBody>
        </p:sp>
        <p:pic>
          <p:nvPicPr>
            <p:cNvPr id="2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4D76FAAE-B892-DBDE-649E-9C19F8BF2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22" name="Группа 1">
            <a:extLst>
              <a:ext uri="{FF2B5EF4-FFF2-40B4-BE49-F238E27FC236}">
                <a16:creationId xmlns:a16="http://schemas.microsoft.com/office/drawing/2014/main" id="{0654EF09-03D9-FE5E-7B3C-0D2BF569B4FB}"/>
              </a:ext>
            </a:extLst>
          </p:cNvPr>
          <p:cNvGrpSpPr/>
          <p:nvPr/>
        </p:nvGrpSpPr>
        <p:grpSpPr>
          <a:xfrm>
            <a:off x="1182557" y="2854119"/>
            <a:ext cx="7905414" cy="482183"/>
            <a:chOff x="1263824" y="3392904"/>
            <a:chExt cx="7123119" cy="48218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317E79-1837-E3D8-3FD3-CBE42C09304C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4821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Neftçala DOST filialının açılışı</a:t>
              </a:r>
            </a:p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Cari ilin aprel ayında Neftçala şəhərində növbəti DOST filialının açılışı nəzərdə tutulur.   </a:t>
              </a:r>
            </a:p>
          </p:txBody>
        </p:sp>
        <p:pic>
          <p:nvPicPr>
            <p:cNvPr id="24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3D597EC3-B5EA-104B-9689-06B29D105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25" name="Группа 1">
            <a:extLst>
              <a:ext uri="{FF2B5EF4-FFF2-40B4-BE49-F238E27FC236}">
                <a16:creationId xmlns:a16="http://schemas.microsoft.com/office/drawing/2014/main" id="{57BA7E73-A65C-8C73-B79D-0D2BC973D294}"/>
              </a:ext>
            </a:extLst>
          </p:cNvPr>
          <p:cNvGrpSpPr/>
          <p:nvPr/>
        </p:nvGrpSpPr>
        <p:grpSpPr>
          <a:xfrm>
            <a:off x="1182557" y="1450495"/>
            <a:ext cx="7905414" cy="482183"/>
            <a:chOff x="1263824" y="3392904"/>
            <a:chExt cx="7123119" cy="48218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F726A4-5450-63DB-B7E3-B9A2CC0C7B27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4821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DOST konsepsiyasının yenilənməsi</a:t>
              </a:r>
            </a:p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Yeni konsepsiyanın cənab Nazirə təqdim olunması planlaşdırılır. </a:t>
              </a:r>
            </a:p>
          </p:txBody>
        </p:sp>
        <p:pic>
          <p:nvPicPr>
            <p:cNvPr id="27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32A41DC6-FA6E-F044-237F-A2DFBBE7A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34" name="Группа 1">
            <a:extLst>
              <a:ext uri="{FF2B5EF4-FFF2-40B4-BE49-F238E27FC236}">
                <a16:creationId xmlns:a16="http://schemas.microsoft.com/office/drawing/2014/main" id="{E9602460-1A52-9490-678D-5A1681C1CC0E}"/>
              </a:ext>
            </a:extLst>
          </p:cNvPr>
          <p:cNvGrpSpPr/>
          <p:nvPr/>
        </p:nvGrpSpPr>
        <p:grpSpPr>
          <a:xfrm>
            <a:off x="1182557" y="2046678"/>
            <a:ext cx="7905414" cy="697627"/>
            <a:chOff x="1263824" y="3360188"/>
            <a:chExt cx="7123119" cy="69762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4028F43-9EBA-3259-020D-69C6528A1528}"/>
                </a:ext>
              </a:extLst>
            </p:cNvPr>
            <p:cNvSpPr txBox="1"/>
            <p:nvPr/>
          </p:nvSpPr>
          <p:spPr>
            <a:xfrm>
              <a:off x="1753366" y="3360188"/>
              <a:ext cx="6633577" cy="6976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SOCGOV  konfransına hazırlıq  </a:t>
              </a:r>
            </a:p>
            <a:p>
              <a:pPr marL="0" marR="0" lvl="0" indent="0" defTabSz="914400" rtl="0" eaLnBrk="1" fontAlgn="auto" latinLnBrk="0" hangingPunct="1"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z-Latn-AZ" sz="1400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İşçi qrupunun iclası keçiriləcək, promo materiallar və qonaqların siyahısına dair təkliflər hazırlanacaq.  </a:t>
              </a:r>
            </a:p>
          </p:txBody>
        </p:sp>
        <p:pic>
          <p:nvPicPr>
            <p:cNvPr id="36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889F2A69-FC9E-2B76-4DBA-79AE1AF00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388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67212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14578</TotalTime>
  <Words>1982</Words>
  <Application>Microsoft Office PowerPoint</Application>
  <PresentationFormat>Widescreen</PresentationFormat>
  <Paragraphs>305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Segoe UI</vt:lpstr>
      <vt:lpstr>Tahoma</vt:lpstr>
      <vt:lpstr>Wingdings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1158</cp:revision>
  <cp:lastPrinted>2025-03-12T07:23:13Z</cp:lastPrinted>
  <dcterms:modified xsi:type="dcterms:W3CDTF">2026-05-18T15:13:17Z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